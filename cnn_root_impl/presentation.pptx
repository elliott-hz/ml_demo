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5" r:id="rId3"/>
    <p:sldId id="276" r:id="rId4"/>
    <p:sldId id="291" r:id="rId5"/>
    <p:sldId id="286" r:id="rId6"/>
    <p:sldId id="292" r:id="rId7"/>
    <p:sldId id="274" r:id="rId8"/>
    <p:sldId id="277" r:id="rId9"/>
    <p:sldId id="278" r:id="rId10"/>
    <p:sldId id="296" r:id="rId11"/>
    <p:sldId id="287" r:id="rId12"/>
    <p:sldId id="294" r:id="rId13"/>
    <p:sldId id="293" r:id="rId14"/>
    <p:sldId id="265" r:id="rId15"/>
    <p:sldId id="290" r:id="rId16"/>
    <p:sldId id="289" r:id="rId17"/>
    <p:sldId id="295" r:id="rId18"/>
    <p:sldId id="283" r:id="rId19"/>
    <p:sldId id="301" r:id="rId20"/>
    <p:sldId id="298" r:id="rId21"/>
    <p:sldId id="302" r:id="rId22"/>
    <p:sldId id="299" r:id="rId23"/>
    <p:sldId id="303" r:id="rId24"/>
    <p:sldId id="300" r:id="rId25"/>
    <p:sldId id="304" r:id="rId26"/>
    <p:sldId id="297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BDC"/>
    <a:srgbClr val="4A5EE6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1"/>
    <p:restoredTop sz="76451"/>
  </p:normalViewPr>
  <p:slideViewPr>
    <p:cSldViewPr snapToGrid="0">
      <p:cViewPr varScale="1">
        <p:scale>
          <a:sx n="117" d="100"/>
          <a:sy n="117" d="100"/>
        </p:scale>
        <p:origin x="1712" y="168"/>
      </p:cViewPr>
      <p:guideLst/>
    </p:cSldViewPr>
  </p:slideViewPr>
  <p:notesTextViewPr>
    <p:cViewPr>
      <p:scale>
        <a:sx n="160" d="100"/>
        <a:sy n="160" d="100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10/22/25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10/22/25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</a:t>
            </a:r>
            <a:br>
              <a:rPr lang="en-AU" dirty="0"/>
            </a:br>
            <a:r>
              <a:rPr lang="en-AU" dirty="0"/>
              <a:t>My name is </a:t>
            </a:r>
            <a:r>
              <a:rPr lang="en-AU" b="1" dirty="0" err="1"/>
              <a:t>Kuanlong</a:t>
            </a:r>
            <a:r>
              <a:rPr lang="en-AU" b="1" dirty="0"/>
              <a:t> Li</a:t>
            </a:r>
            <a:r>
              <a:rPr lang="en-AU" dirty="0"/>
              <a:t>, and today I’m </a:t>
            </a:r>
            <a:r>
              <a:rPr lang="en-US" altLang="zh-CN" dirty="0"/>
              <a:t>going to</a:t>
            </a:r>
            <a:r>
              <a:rPr lang="zh-CN" altLang="en-US" dirty="0"/>
              <a:t> </a:t>
            </a:r>
            <a:r>
              <a:rPr lang="en-AU" dirty="0"/>
              <a:t>present my project on </a:t>
            </a:r>
            <a:r>
              <a:rPr lang="en-AU" b="1" dirty="0"/>
              <a:t>image classification using a basic Convolutional Neural Network</a:t>
            </a:r>
            <a:r>
              <a:rPr lang="en-AU" dirty="0"/>
              <a:t>, or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18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85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38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663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95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1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EF63-A822-2ED5-821D-D582FF80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D8765-60D6-F4A0-7D0E-3EE8AFF5D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39153-E6A8-7182-4EB8-50C62D31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9D9A-586C-65C1-68C6-6DECC24AD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82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752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6808-046A-79FA-5F8A-35B27578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2E303-4100-FFDF-95F2-B28BC9498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FB8B1-2F10-FD91-BE97-96E365687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y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99A73-01C1-682C-B01A-B8F7F3593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82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EC43-2E91-0851-4041-AD995E06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C2ABB-C1D0-A3DD-29C5-ECCD02CE6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DA778-3AF1-3A87-00B0-C0EEEE60F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EADEE-B789-F0EF-9BCA-6894CDA74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11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659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69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28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CECB-9966-6FCA-058D-7B9715A5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5C8B0-FA3E-F113-689C-A4D9D8411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EADE8-EDC6-2601-8E43-FF3E1A9FE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8340B-45F6-32F8-F1DA-6175F635E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18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598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6EC6-5238-CF86-D609-7911E2EA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D9740-6C9D-CEE3-B5C9-1EB0003D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63D8E-ED16-0041-240D-E3F07261C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5AEA6-B1E7-39C0-0422-D879D3F96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532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DDE4-2B18-27B8-9B03-73A8FEC8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ADAB6-E795-729B-9DFA-D6D6831C7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D5906-F04A-BB35-F5D5-367F558FD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EB187-C41C-B1A7-E528-BDE67BF86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992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B062-7DCE-0D26-0313-CE97ED1B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7487C-5FAA-78B9-444E-B9EDA83F9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A7297-8C2F-27A0-D4B4-4907340F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49C11-54BC-4F9B-CAAD-9ED35DD40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9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68CF-83F5-296E-D43B-4E73D359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4D2C6-8B7A-3D02-E39F-B02AC83A2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48348-6BF9-5C08-69DC-A67F1654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D8B49-B904-FF7A-2DF1-B01BAEACB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82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A464-374B-5CEE-8604-E20F8D38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4A7C2-D2FC-80E5-B9DE-86F02CD03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B43E0-62FD-5FF3-71BE-E05D57404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7AE8C-2928-5DBC-F149-14662E6EF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754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91DE-7545-4B80-4EBB-FCE4E784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CEE64-B4BD-22F4-49C7-B5A55FC17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877F9-C0A7-D3D0-2965-F6D4E2F47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88549-6A6F-C94F-88A8-0F13AC8B8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65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AB62-EEF1-96C0-7F1E-ABD8C2A4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1CBF9-E516-EBE5-5719-AF2E293BC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BE2EA-0BDC-9892-46F8-4FA3F7D50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D713D-19CC-A165-C5C7-450B56FC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390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A36-9981-23F4-B258-CEEB4285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C7645-601D-D831-4930-FF7D47F23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862A8-9404-06AC-7B10-E6AD0E7C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C7DC6-20EB-84F1-B082-391DC4CF0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44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892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8985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445" y="2043946"/>
            <a:ext cx="6034216" cy="1439604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3445" y="3469262"/>
            <a:ext cx="6034216" cy="108564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1B6B04-886C-2862-3BD4-97071FCAD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F1657-AAC1-699F-C320-E5260E38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reeform 5" descr="Man looking up at skyscraper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000" b="0" i="0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21385B8-472C-422F-2A52-C7133619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E7CA9C-8486-4EA1-8701-DB28FF478598}"/>
              </a:ext>
            </a:extLst>
          </p:cNvPr>
          <p:cNvSpPr/>
          <p:nvPr userDrawn="1"/>
        </p:nvSpPr>
        <p:spPr>
          <a:xfrm>
            <a:off x="2060160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5C378C59-971F-BF38-742D-D95B205A12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40257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BAF3E19-6FBE-8CBB-4079-33F65C860D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257" y="3029583"/>
            <a:ext cx="2940863" cy="100200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cap="all" spc="300" baseline="0"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C42666-9F54-E92B-0327-85CCBAD21F0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44257" y="4053021"/>
            <a:ext cx="2944737" cy="2284667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FF2E1B-0868-370D-4DD5-C9FAA608FAF8}"/>
              </a:ext>
            </a:extLst>
          </p:cNvPr>
          <p:cNvSpPr/>
          <p:nvPr userDrawn="1"/>
        </p:nvSpPr>
        <p:spPr>
          <a:xfrm>
            <a:off x="5617535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4A9B4F-A838-18BA-A205-674E6E13EB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07541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35959781-AA1F-7789-57AC-F3583B408E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17227" y="3064120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AFA26A-367B-C958-6FDA-30DC18B385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7226" y="4066126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993317-B15E-4278-C4C8-D2C8F54AED79}"/>
              </a:ext>
            </a:extLst>
          </p:cNvPr>
          <p:cNvSpPr/>
          <p:nvPr userDrawn="1"/>
        </p:nvSpPr>
        <p:spPr>
          <a:xfrm>
            <a:off x="8836567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320E0A84-9337-4401-9D13-157978C607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333421" y="200471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AC8F3009-6B00-DF9F-8517-05A8265566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3008" y="3029583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51E11FB-D524-5781-B4B3-F6E5484F19F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98539" y="4031589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B1E6-E67B-3B07-B464-6C782D2D21E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2A3-D5E9-1D68-8AB2-1DB5C21E912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89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6736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600" b="1" i="0" baseline="0">
                <a:solidFill>
                  <a:schemeClr val="bg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1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65" r:id="rId6"/>
    <p:sldLayoutId id="2147483653" r:id="rId7"/>
    <p:sldLayoutId id="2147483654" r:id="rId8"/>
    <p:sldLayoutId id="2147483658" r:id="rId9"/>
    <p:sldLayoutId id="2147483655" r:id="rId10"/>
    <p:sldLayoutId id="2147483656" r:id="rId11"/>
    <p:sldLayoutId id="2147483657" r:id="rId12"/>
    <p:sldLayoutId id="2147483664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7.png"/><Relationship Id="rId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8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9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microsoft.com/office/2007/relationships/hdphoto" Target="../media/hdphoto11.wdp"/><Relationship Id="rId5" Type="http://schemas.openxmlformats.org/officeDocument/2006/relationships/image" Target="../media/image18.png"/><Relationship Id="rId10" Type="http://schemas.microsoft.com/office/2007/relationships/hdphoto" Target="../media/hdphoto13.wdp"/><Relationship Id="rId4" Type="http://schemas.microsoft.com/office/2007/relationships/hdphoto" Target="../media/hdphoto10.wdp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230" y="861339"/>
            <a:ext cx="11397514" cy="2785751"/>
          </a:xfrm>
        </p:spPr>
        <p:txBody>
          <a:bodyPr/>
          <a:lstStyle/>
          <a:p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br>
              <a:rPr lang="en-US" altLang="zh-CN" dirty="0"/>
            </a:br>
            <a:br>
              <a:rPr lang="en-US" altLang="zh-CN" sz="2800" dirty="0"/>
            </a:b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Image Classification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b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CNN(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Network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FD8D3D-82CB-EA16-814E-A3FED8BBF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230" y="4614176"/>
            <a:ext cx="7414940" cy="578325"/>
          </a:xfrm>
        </p:spPr>
        <p:txBody>
          <a:bodyPr/>
          <a:lstStyle/>
          <a:p>
            <a:r>
              <a:rPr lang="en-US" b="1" dirty="0"/>
              <a:t>25509225</a:t>
            </a:r>
          </a:p>
          <a:p>
            <a:r>
              <a:rPr lang="en-US" b="1" dirty="0"/>
              <a:t>K</a:t>
            </a:r>
            <a:r>
              <a:rPr lang="en-US" altLang="zh-CN" b="1" dirty="0"/>
              <a:t>UANLONG</a:t>
            </a:r>
            <a:r>
              <a:rPr lang="zh-CN" altLang="en-US" b="1" dirty="0"/>
              <a:t> </a:t>
            </a:r>
            <a:r>
              <a:rPr lang="en-US" altLang="zh-CN" b="1" dirty="0"/>
              <a:t>(ELLIOTT)</a:t>
            </a:r>
            <a:r>
              <a:rPr lang="zh-CN" altLang="en-US" b="1" dirty="0"/>
              <a:t> </a:t>
            </a:r>
            <a:r>
              <a:rPr lang="en-US" altLang="zh-CN" b="1" dirty="0"/>
              <a:t>LI / 20 oct. 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84E2-4C7E-D7E0-9603-A0CE74B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7035" y="399392"/>
            <a:ext cx="4834517" cy="69158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22" name="Picture Placeholder 11" descr="Close-up of skyscrapers">
            <a:extLst>
              <a:ext uri="{FF2B5EF4-FFF2-40B4-BE49-F238E27FC236}">
                <a16:creationId xmlns:a16="http://schemas.microsoft.com/office/drawing/2014/main" id="{02CB0A40-C392-7AEB-F580-EA0981B3CB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26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 dpi="0" rotWithShape="1"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24"/>
            </a:stretch>
          </a:blipFill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7035" y="1434785"/>
            <a:ext cx="5215858" cy="3987252"/>
          </a:xfrm>
        </p:spPr>
        <p:txBody>
          <a:bodyPr/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 </a:t>
            </a:r>
            <a:r>
              <a:rPr lang="en-AU" b="1" dirty="0"/>
              <a:t>Project Overview</a:t>
            </a:r>
          </a:p>
          <a:p>
            <a:r>
              <a:rPr lang="en-AU" b="1" dirty="0"/>
              <a:t>2.</a:t>
            </a:r>
            <a:r>
              <a:rPr lang="zh-CN" altLang="en-US" b="1" dirty="0"/>
              <a:t> </a:t>
            </a:r>
            <a:r>
              <a:rPr lang="en-AU" b="1" dirty="0"/>
              <a:t>Data Preparation</a:t>
            </a:r>
          </a:p>
          <a:p>
            <a:r>
              <a:rPr lang="en-AU" b="1" dirty="0"/>
              <a:t>3. CNN Container and Components</a:t>
            </a:r>
          </a:p>
          <a:p>
            <a:r>
              <a:rPr lang="en-AU" b="1" dirty="0"/>
              <a:t>4. CNN Criterion and Optimizer</a:t>
            </a:r>
          </a:p>
          <a:p>
            <a:r>
              <a:rPr lang="en-AU" b="1" dirty="0"/>
              <a:t>5. Training Framework</a:t>
            </a:r>
          </a:p>
          <a:p>
            <a:r>
              <a:rPr lang="en-AU" b="1" dirty="0"/>
              <a:t>6. PERFORMING Training, Prediction and Evaluation</a:t>
            </a:r>
          </a:p>
          <a:p>
            <a:endParaRPr lang="en-AU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5BEAD-012C-AF1F-9EBB-243A511C9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107" y="638594"/>
            <a:ext cx="2743200" cy="1336433"/>
          </a:xfrm>
          <a:prstGeom prst="rect">
            <a:avLst/>
          </a:prstGeom>
          <a:solidFill>
            <a:srgbClr val="4A5EE6">
              <a:alpha val="87843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2" y="2918445"/>
            <a:ext cx="251791" cy="2071501"/>
          </a:xfrm>
          <a:prstGeom prst="rect">
            <a:avLst/>
          </a:prstGeom>
          <a:solidFill>
            <a:srgbClr val="4A5EE6">
              <a:alpha val="7607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52655-72F7-26B4-5DA5-07E2346C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1. Project </a:t>
            </a:r>
            <a:r>
              <a:rPr lang="en-AU" dirty="0"/>
              <a:t>Overview</a:t>
            </a:r>
            <a:endParaRPr lang="en-US" dirty="0"/>
          </a:p>
        </p:txBody>
      </p:sp>
      <p:pic>
        <p:nvPicPr>
          <p:cNvPr id="15" name="Picture Placeholder 14" descr="White modern architecture">
            <a:extLst>
              <a:ext uri="{FF2B5EF4-FFF2-40B4-BE49-F238E27FC236}">
                <a16:creationId xmlns:a16="http://schemas.microsoft.com/office/drawing/2014/main" id="{6D77A1A7-7876-7DF9-AF3A-C47588011C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C01B0-7BC5-5869-A281-EF11B59B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8235" y="2013500"/>
            <a:ext cx="4737399" cy="3891067"/>
          </a:xfrm>
        </p:spPr>
        <p:txBody>
          <a:bodyPr/>
          <a:lstStyle/>
          <a:p>
            <a:r>
              <a:rPr lang="en-AU" dirty="0"/>
              <a:t>This project is all about building a Convolutional Neural Network, or </a:t>
            </a:r>
            <a:r>
              <a:rPr lang="en-AU" b="1" dirty="0"/>
              <a:t>CNN</a:t>
            </a:r>
            <a:r>
              <a:rPr lang="en-AU" dirty="0"/>
              <a:t>, completely </a:t>
            </a:r>
            <a:r>
              <a:rPr lang="en-AU" b="1" dirty="0"/>
              <a:t>from scratch (option 1) </a:t>
            </a:r>
            <a:r>
              <a:rPr lang="en-AU" dirty="0"/>
              <a:t>to really understand how it works, </a:t>
            </a:r>
            <a:r>
              <a:rPr lang="en-AU" b="1" dirty="0"/>
              <a:t>without using any high-level libraries</a:t>
            </a:r>
            <a:r>
              <a:rPr lang="en-AU" dirty="0"/>
              <a:t>. </a:t>
            </a:r>
          </a:p>
          <a:p>
            <a:endParaRPr lang="en-AU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2E16497-4AD4-29BC-9602-2FDFDA688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2D1EE3-10BA-7879-1DC3-ACF7D44361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E60AF-60B8-AFFF-BB74-39CF6830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5E5352-D359-A7E0-B792-F4DA83B9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168" y="876301"/>
            <a:ext cx="10122632" cy="652054"/>
          </a:xfrm>
        </p:spPr>
        <p:txBody>
          <a:bodyPr anchor="ctr">
            <a:normAutofit/>
          </a:bodyPr>
          <a:lstStyle/>
          <a:p>
            <a:r>
              <a:rPr lang="en-AU" sz="2300" dirty="0"/>
              <a:t>1.Project Overview</a:t>
            </a:r>
            <a:endParaRPr lang="en-US" sz="2300" dirty="0"/>
          </a:p>
        </p:txBody>
      </p:sp>
      <p:pic>
        <p:nvPicPr>
          <p:cNvPr id="10" name="Picture 9" descr="A black square with white letters&#10;&#10;AI-generated content may be incorrect.">
            <a:extLst>
              <a:ext uri="{FF2B5EF4-FFF2-40B4-BE49-F238E27FC236}">
                <a16:creationId xmlns:a16="http://schemas.microsoft.com/office/drawing/2014/main" id="{EFE33EDA-1399-8C13-CBB0-CE6C3817E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38" y="1309638"/>
            <a:ext cx="10126362" cy="2455643"/>
          </a:xfrm>
          <a:prstGeom prst="rect">
            <a:avLst/>
          </a:prstGeom>
          <a:noFill/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679F55-02F7-633A-C5BD-9FFEED7034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1" y="638251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23D45-0C40-80DB-A625-FB457FBC424D}"/>
              </a:ext>
            </a:extLst>
          </p:cNvPr>
          <p:cNvSpPr txBox="1"/>
          <p:nvPr/>
        </p:nvSpPr>
        <p:spPr>
          <a:xfrm>
            <a:off x="653143" y="4198618"/>
            <a:ext cx="104357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Task: handwritten digit images recognition (multi-classification task).</a:t>
            </a:r>
          </a:p>
          <a:p>
            <a:endParaRPr lang="en-US" altLang="zh-CN" b="1" dirty="0"/>
          </a:p>
          <a:p>
            <a:r>
              <a:rPr lang="en-US" altLang="zh-CN" b="1" dirty="0"/>
              <a:t>Dataset</a:t>
            </a:r>
            <a:r>
              <a:rPr lang="en-US" altLang="zh-CN" dirty="0"/>
              <a:t>: </a:t>
            </a:r>
            <a:r>
              <a:rPr lang="en-AU" dirty="0"/>
              <a:t>the MNIST dataset (70,000 examples)</a:t>
            </a:r>
          </a:p>
          <a:p>
            <a:endParaRPr lang="en-AU" b="1" dirty="0"/>
          </a:p>
          <a:p>
            <a:r>
              <a:rPr lang="en-AU" b="1" dirty="0"/>
              <a:t>Input:</a:t>
            </a:r>
            <a:r>
              <a:rPr lang="en-AU" dirty="0"/>
              <a:t> 28×28 grayscale images</a:t>
            </a:r>
            <a:br>
              <a:rPr lang="en-AU" dirty="0"/>
            </a:br>
            <a:r>
              <a:rPr lang="en-AU" b="1" dirty="0"/>
              <a:t>Output:</a:t>
            </a:r>
            <a:r>
              <a:rPr lang="en-AU" dirty="0"/>
              <a:t> A probability distribution over 10 digit classes (0–9)</a:t>
            </a:r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B3195FD4-1CE5-6A62-99D9-02C765C8E26E}"/>
              </a:ext>
            </a:extLst>
          </p:cNvPr>
          <p:cNvSpPr txBox="1">
            <a:spLocks/>
          </p:cNvSpPr>
          <p:nvPr/>
        </p:nvSpPr>
        <p:spPr>
          <a:xfrm rot="16200000">
            <a:off x="8854442" y="2953511"/>
            <a:ext cx="6291068" cy="3840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UTS KUANLONG LI / 20 OCT 2025</a:t>
            </a:r>
          </a:p>
        </p:txBody>
      </p:sp>
    </p:spTree>
    <p:extLst>
      <p:ext uri="{BB962C8B-B14F-4D97-AF65-F5344CB8AC3E}">
        <p14:creationId xmlns:p14="http://schemas.microsoft.com/office/powerpoint/2010/main" val="181888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3C5A-CEA8-6DDC-B3F1-41D07C4F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084" y="0"/>
            <a:ext cx="8706867" cy="701849"/>
          </a:xfrm>
        </p:spPr>
        <p:txBody>
          <a:bodyPr/>
          <a:lstStyle/>
          <a:p>
            <a:pPr algn="r"/>
            <a:r>
              <a:rPr lang="en-AU" sz="2800" dirty="0"/>
              <a:t>2. Data Preparation</a:t>
            </a:r>
            <a:endParaRPr lang="en-US" sz="28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0E13AC-B5E7-B132-0EB7-541E53B3DA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E68C1-1703-73CF-D4D8-D10C96073F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DA91A-334F-5335-C533-7C685741A85E}"/>
              </a:ext>
            </a:extLst>
          </p:cNvPr>
          <p:cNvSpPr txBox="1"/>
          <p:nvPr/>
        </p:nvSpPr>
        <p:spPr>
          <a:xfrm>
            <a:off x="5821680" y="1649799"/>
            <a:ext cx="55968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A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Font typeface="+mj-lt"/>
              <a:buAutoNum type="arabicPeriod"/>
            </a:pP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Loading dataset</a:t>
            </a:r>
            <a:r>
              <a:rPr lang="en-AU" b="0" i="0" dirty="0">
                <a:solidFill>
                  <a:srgbClr val="1F1F1F"/>
                </a:solidFill>
                <a:effectLst/>
                <a:latin typeface="Google Sans Text"/>
              </a:rPr>
              <a:t> </a:t>
            </a: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and</a:t>
            </a:r>
            <a:r>
              <a:rPr lang="en-AU" b="0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Splitting</a:t>
            </a:r>
            <a:endParaRPr lang="en-A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Font typeface="+mj-lt"/>
              <a:buAutoNum type="arabicPeriod"/>
            </a:pP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Preprocess images</a:t>
            </a:r>
            <a:endParaRPr lang="en-A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Font typeface="+mj-lt"/>
              <a:buAutoNum type="arabicPeriod"/>
            </a:pP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One-hot encode labels</a:t>
            </a:r>
          </a:p>
          <a:p>
            <a:pPr algn="l">
              <a:buFont typeface="+mj-lt"/>
              <a:buAutoNum type="arabicPeriod"/>
            </a:pP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Data augmentation</a:t>
            </a:r>
          </a:p>
          <a:p>
            <a:pPr algn="l"/>
            <a:endParaRPr lang="en-A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en-AU" b="0" i="0" dirty="0">
                <a:solidFill>
                  <a:srgbClr val="1F1F1F"/>
                </a:solidFill>
                <a:effectLst/>
                <a:latin typeface="Google Sans Text"/>
              </a:rPr>
              <a:t>This ensures that data is </a:t>
            </a: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ready for CNN input</a:t>
            </a:r>
            <a:endParaRPr lang="en-AU" dirty="0">
              <a:solidFill>
                <a:srgbClr val="1F1F1F"/>
              </a:solidFill>
              <a:latin typeface="Google Sans Text"/>
            </a:endParaRPr>
          </a:p>
          <a:p>
            <a:pPr algn="l">
              <a:buNone/>
            </a:pPr>
            <a:endParaRPr lang="en-A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en-AU" dirty="0">
                <a:solidFill>
                  <a:srgbClr val="1F1F1F"/>
                </a:solidFill>
                <a:latin typeface="Google Sans Text"/>
              </a:rPr>
              <a:t>NB: </a:t>
            </a:r>
            <a:r>
              <a:rPr lang="en-AU" b="0" i="0" dirty="0">
                <a:solidFill>
                  <a:srgbClr val="1F1F1F"/>
                </a:solidFill>
                <a:effectLst/>
                <a:latin typeface="Google Sans Text"/>
              </a:rPr>
              <a:t>without manual low-level implementations, keeping the focus on the </a:t>
            </a:r>
            <a:r>
              <a:rPr lang="en-AU" b="1" i="0" dirty="0">
                <a:solidFill>
                  <a:srgbClr val="1F1F1F"/>
                </a:solidFill>
                <a:effectLst/>
                <a:latin typeface="Google Sans Text"/>
              </a:rPr>
              <a:t>CNN model design and training</a:t>
            </a:r>
            <a:r>
              <a:rPr lang="en-AU" b="0" i="0" dirty="0">
                <a:solidFill>
                  <a:srgbClr val="1F1F1F"/>
                </a:solidFill>
                <a:effectLst/>
                <a:latin typeface="Google Sans Text"/>
              </a:rPr>
              <a:t> in subsequent steps.</a:t>
            </a:r>
          </a:p>
        </p:txBody>
      </p:sp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4F9A-045E-5CAE-583F-70D3EDD2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F9C7CE0-EEC4-9FCD-4226-8FEAD9D115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8854443" y="3113531"/>
            <a:ext cx="629106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A78DC9F-FEB3-2173-FD73-8F38BDD9D7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DE1172-0E1C-C85E-74C1-7F5689ACC84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oundRect">
            <a:avLst>
              <a:gd name="adj" fmla="val 8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F4E248-C3EB-CEE7-8391-12E3999B35F0}"/>
              </a:ext>
            </a:extLst>
          </p:cNvPr>
          <p:cNvSpPr/>
          <p:nvPr/>
        </p:nvSpPr>
        <p:spPr>
          <a:xfrm>
            <a:off x="48454" y="791107"/>
            <a:ext cx="10980684" cy="5843286"/>
          </a:xfrm>
          <a:prstGeom prst="roundRect">
            <a:avLst>
              <a:gd name="adj" fmla="val 242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165AF7-8F44-31D8-8959-6B0151B93BEB}"/>
              </a:ext>
            </a:extLst>
          </p:cNvPr>
          <p:cNvSpPr/>
          <p:nvPr/>
        </p:nvSpPr>
        <p:spPr>
          <a:xfrm>
            <a:off x="1831326" y="1296450"/>
            <a:ext cx="8549640" cy="3800076"/>
          </a:xfrm>
          <a:prstGeom prst="roundRect">
            <a:avLst>
              <a:gd name="adj" fmla="val 251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62023B7-CE31-9575-D871-AAF6DA93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404" y="12633"/>
            <a:ext cx="8825862" cy="40565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cs typeface="Segoe UI Light" panose="020B0502040204020203" pitchFamily="34" charset="0"/>
              </a:rPr>
              <a:t>Simple CNN Structure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8389B6D-5B58-9EAF-A8D4-1C29D0108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925610"/>
                  </p:ext>
                </p:extLst>
              </p:nvPr>
            </p:nvGraphicFramePr>
            <p:xfrm>
              <a:off x="1980537" y="1637983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44515">
                    <a:tc>
                      <a:txBody>
                        <a:bodyPr/>
                        <a:lstStyle/>
                        <a:p>
                          <a:r>
                            <a:rPr lang="en-AU" sz="800" dirty="0">
                              <a:solidFill>
                                <a:schemeClr val="tx1"/>
                              </a:solidFill>
                            </a:rPr>
                            <a:t>Layers -&gt;</a:t>
                          </a:r>
                        </a:p>
                        <a:p>
                          <a:r>
                            <a:rPr lang="en-AU" sz="800" dirty="0">
                              <a:solidFill>
                                <a:schemeClr val="tx1"/>
                              </a:solidFill>
                            </a:rPr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61399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34155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Forward 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C)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C=class labels (logits)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79777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Backward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𝑟𝑒𝑠h𝑎𝑝𝑒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𝑜𝑟𝑔𝑖𝑛𝑎𝑙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8389B6D-5B58-9EAF-A8D4-1C29D0108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925610"/>
                  </p:ext>
                </p:extLst>
              </p:nvPr>
            </p:nvGraphicFramePr>
            <p:xfrm>
              <a:off x="1980537" y="1637983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AU" sz="800" dirty="0">
                              <a:solidFill>
                                <a:schemeClr val="tx1"/>
                              </a:solidFill>
                            </a:rPr>
                            <a:t>Layers -&gt;</a:t>
                          </a:r>
                        </a:p>
                        <a:p>
                          <a:r>
                            <a:rPr lang="en-AU" sz="800" dirty="0">
                              <a:solidFill>
                                <a:schemeClr val="tx1"/>
                              </a:solidFill>
                            </a:rPr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Forward 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4762" t="-96471" r="-366667" b="-11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000" t="-96471" r="-269600" b="-11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1395" t="-96471" r="-182558" b="-11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182" t="-96471" r="-78409" b="-11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Backward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4762" t="-256923" r="-366667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000" t="-256923" r="-269600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0426" t="-256923" r="-258511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1395" t="-256923" r="-182558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182" t="-256923" r="-78409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4762" t="-828571" r="-36666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000" t="-828571" r="-26960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1395" t="-828571" r="-18255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182" t="-828571" r="-78409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67DE3BB-7DD0-D739-17D4-C44D3C64FBFF}"/>
              </a:ext>
            </a:extLst>
          </p:cNvPr>
          <p:cNvSpPr txBox="1"/>
          <p:nvPr/>
        </p:nvSpPr>
        <p:spPr>
          <a:xfrm>
            <a:off x="1913405" y="1287102"/>
            <a:ext cx="186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CNN Container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FD39E-A904-63C3-41E2-A83CB2C99393}"/>
              </a:ext>
            </a:extLst>
          </p:cNvPr>
          <p:cNvSpPr txBox="1"/>
          <p:nvPr/>
        </p:nvSpPr>
        <p:spPr>
          <a:xfrm>
            <a:off x="3492374" y="882318"/>
            <a:ext cx="447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CNN Training Framework (</a:t>
            </a:r>
            <a:r>
              <a:rPr lang="en-AU" sz="2000" b="1" dirty="0">
                <a:solidFill>
                  <a:srgbClr val="FF0000"/>
                </a:solidFill>
              </a:rPr>
              <a:t>Algorithm</a:t>
            </a:r>
            <a:r>
              <a:rPr lang="en-AU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C9F5D8-9F92-D534-C132-1A458D206B81}"/>
              </a:ext>
            </a:extLst>
          </p:cNvPr>
          <p:cNvSpPr/>
          <p:nvPr/>
        </p:nvSpPr>
        <p:spPr>
          <a:xfrm>
            <a:off x="1831327" y="5181390"/>
            <a:ext cx="9084510" cy="3754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b="1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A6CD42-ADE8-572E-54EF-1F26B7551909}"/>
              </a:ext>
            </a:extLst>
          </p:cNvPr>
          <p:cNvSpPr/>
          <p:nvPr/>
        </p:nvSpPr>
        <p:spPr>
          <a:xfrm>
            <a:off x="3415004" y="5257199"/>
            <a:ext cx="3408467" cy="2710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SGD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9EB585-677A-DB02-49DA-448DA968C935}"/>
              </a:ext>
            </a:extLst>
          </p:cNvPr>
          <p:cNvSpPr/>
          <p:nvPr/>
        </p:nvSpPr>
        <p:spPr>
          <a:xfrm>
            <a:off x="10410039" y="1296450"/>
            <a:ext cx="505798" cy="380007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2CB6F0-2B7A-16F0-0A0B-0ABF0D77E978}"/>
              </a:ext>
            </a:extLst>
          </p:cNvPr>
          <p:cNvSpPr/>
          <p:nvPr/>
        </p:nvSpPr>
        <p:spPr>
          <a:xfrm>
            <a:off x="10483123" y="2131153"/>
            <a:ext cx="368705" cy="279720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Cross-Entropy Loss Function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4F24FAE-0E2C-61EC-9DBA-262264534692}"/>
              </a:ext>
            </a:extLst>
          </p:cNvPr>
          <p:cNvSpPr/>
          <p:nvPr/>
        </p:nvSpPr>
        <p:spPr>
          <a:xfrm>
            <a:off x="4910031" y="5276416"/>
            <a:ext cx="1402970" cy="23262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Learning rate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E1A0D4-8787-1691-BC23-452DE5D0DB54}"/>
              </a:ext>
            </a:extLst>
          </p:cNvPr>
          <p:cNvSpPr/>
          <p:nvPr/>
        </p:nvSpPr>
        <p:spPr>
          <a:xfrm>
            <a:off x="48454" y="411338"/>
            <a:ext cx="10980684" cy="3191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 Loading and Preprocessing -&gt; (Test Dataset + Validation Dataset + Test Dataset)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A09A46-EC95-054C-149D-4C35B449D058}"/>
              </a:ext>
            </a:extLst>
          </p:cNvPr>
          <p:cNvSpPr/>
          <p:nvPr/>
        </p:nvSpPr>
        <p:spPr>
          <a:xfrm>
            <a:off x="112463" y="1310760"/>
            <a:ext cx="1613349" cy="4246122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2-Levels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Loop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Training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4F77516-AB9D-7DBD-BB02-5925BFABA348}"/>
              </a:ext>
            </a:extLst>
          </p:cNvPr>
          <p:cNvSpPr/>
          <p:nvPr/>
        </p:nvSpPr>
        <p:spPr>
          <a:xfrm>
            <a:off x="196750" y="1846843"/>
            <a:ext cx="1433288" cy="3192285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Epoch-Level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BC78C0B-C6D3-5F22-8517-33EA1AD1FEC8}"/>
              </a:ext>
            </a:extLst>
          </p:cNvPr>
          <p:cNvSpPr/>
          <p:nvPr/>
        </p:nvSpPr>
        <p:spPr>
          <a:xfrm>
            <a:off x="211601" y="5097517"/>
            <a:ext cx="1433288" cy="328231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68D5CF2-D292-342E-9A1E-8CB949D58D57}"/>
              </a:ext>
            </a:extLst>
          </p:cNvPr>
          <p:cNvSpPr/>
          <p:nvPr/>
        </p:nvSpPr>
        <p:spPr>
          <a:xfrm>
            <a:off x="320567" y="4244842"/>
            <a:ext cx="1185654" cy="685315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Early Stopping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0D5C47-E307-2519-B66F-3508ADA7075B}"/>
              </a:ext>
            </a:extLst>
          </p:cNvPr>
          <p:cNvSpPr/>
          <p:nvPr/>
        </p:nvSpPr>
        <p:spPr>
          <a:xfrm>
            <a:off x="104676" y="5681924"/>
            <a:ext cx="10811161" cy="880584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EAF04C2-486B-C2CF-A09F-563512CFF2A0}"/>
              </a:ext>
            </a:extLst>
          </p:cNvPr>
          <p:cNvSpPr/>
          <p:nvPr/>
        </p:nvSpPr>
        <p:spPr>
          <a:xfrm>
            <a:off x="1017932" y="5475462"/>
            <a:ext cx="315310" cy="234851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EC291E-E038-AA3F-4E57-6AA438A5C12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0110954" y="3205348"/>
            <a:ext cx="372169" cy="3244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7E95BD-58E9-7C93-94AB-2095C541C0E3}"/>
              </a:ext>
            </a:extLst>
          </p:cNvPr>
          <p:cNvCxnSpPr>
            <a:cxnSpLocks/>
          </p:cNvCxnSpPr>
          <p:nvPr/>
        </p:nvCxnSpPr>
        <p:spPr>
          <a:xfrm flipH="1">
            <a:off x="10110954" y="3810046"/>
            <a:ext cx="368705" cy="3350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U-turn Arrow 29">
            <a:extLst>
              <a:ext uri="{FF2B5EF4-FFF2-40B4-BE49-F238E27FC236}">
                <a16:creationId xmlns:a16="http://schemas.microsoft.com/office/drawing/2014/main" id="{21FFA789-9A6C-22BD-A4A6-FD90EEC42FE5}"/>
              </a:ext>
            </a:extLst>
          </p:cNvPr>
          <p:cNvSpPr/>
          <p:nvPr/>
        </p:nvSpPr>
        <p:spPr>
          <a:xfrm rot="16200000">
            <a:off x="1540232" y="4805673"/>
            <a:ext cx="830247" cy="409903"/>
          </a:xfrm>
          <a:prstGeom prst="utur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2F6E2E5-D117-3B9F-E77B-D432F00BFD09}"/>
              </a:ext>
            </a:extLst>
          </p:cNvPr>
          <p:cNvSpPr/>
          <p:nvPr/>
        </p:nvSpPr>
        <p:spPr>
          <a:xfrm>
            <a:off x="320567" y="2212871"/>
            <a:ext cx="1185654" cy="1939072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Batch-Level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9A1389B-00D8-6339-03B6-3FAC6474B6CC}"/>
              </a:ext>
            </a:extLst>
          </p:cNvPr>
          <p:cNvSpPr/>
          <p:nvPr/>
        </p:nvSpPr>
        <p:spPr>
          <a:xfrm>
            <a:off x="387762" y="4509884"/>
            <a:ext cx="1018237" cy="273571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Patience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28E8714-EDAE-2C4F-4EDA-30552D28B3BF}"/>
              </a:ext>
            </a:extLst>
          </p:cNvPr>
          <p:cNvSpPr/>
          <p:nvPr/>
        </p:nvSpPr>
        <p:spPr>
          <a:xfrm>
            <a:off x="416640" y="2577461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CNN Forward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28041F5-02C1-496B-2B50-D953939C00A0}"/>
              </a:ext>
            </a:extLst>
          </p:cNvPr>
          <p:cNvSpPr/>
          <p:nvPr/>
        </p:nvSpPr>
        <p:spPr>
          <a:xfrm>
            <a:off x="416903" y="3328876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 Fun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28BCC32-1AAF-8EED-B5DE-B9FEA190D256}"/>
              </a:ext>
            </a:extLst>
          </p:cNvPr>
          <p:cNvSpPr/>
          <p:nvPr/>
        </p:nvSpPr>
        <p:spPr>
          <a:xfrm>
            <a:off x="416640" y="3691413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C885DCF-749F-44C1-B45B-DA5851FF7AFA}"/>
              </a:ext>
            </a:extLst>
          </p:cNvPr>
          <p:cNvSpPr/>
          <p:nvPr/>
        </p:nvSpPr>
        <p:spPr>
          <a:xfrm>
            <a:off x="418227" y="2939373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CNN Backward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03ECA13-D5F5-5F98-DB87-FB79FA33694A}"/>
              </a:ext>
            </a:extLst>
          </p:cNvPr>
          <p:cNvSpPr/>
          <p:nvPr/>
        </p:nvSpPr>
        <p:spPr>
          <a:xfrm>
            <a:off x="533887" y="5770904"/>
            <a:ext cx="1018237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 losses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AD46168-25AE-A0E9-7D5C-DDA8CCA38BCB}"/>
              </a:ext>
            </a:extLst>
          </p:cNvPr>
          <p:cNvSpPr/>
          <p:nvPr/>
        </p:nvSpPr>
        <p:spPr>
          <a:xfrm>
            <a:off x="1904091" y="5770904"/>
            <a:ext cx="1018237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losses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5AFD905-BCBD-1E03-6AFA-4FC265671001}"/>
              </a:ext>
            </a:extLst>
          </p:cNvPr>
          <p:cNvSpPr/>
          <p:nvPr/>
        </p:nvSpPr>
        <p:spPr>
          <a:xfrm>
            <a:off x="3274295" y="5770904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 accuracy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37C204D-E470-BDD0-77D4-B064C2B07B84}"/>
              </a:ext>
            </a:extLst>
          </p:cNvPr>
          <p:cNvSpPr/>
          <p:nvPr/>
        </p:nvSpPr>
        <p:spPr>
          <a:xfrm>
            <a:off x="4729073" y="5770904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accuracy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E7C4CCF-1F08-6FD6-CECD-F5D318BF0AF0}"/>
              </a:ext>
            </a:extLst>
          </p:cNvPr>
          <p:cNvSpPr/>
          <p:nvPr/>
        </p:nvSpPr>
        <p:spPr>
          <a:xfrm>
            <a:off x="6235392" y="5770904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Best epoch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B663706-E597-22AE-E5CE-50E8F3717C8A}"/>
              </a:ext>
            </a:extLst>
          </p:cNvPr>
          <p:cNvSpPr/>
          <p:nvPr/>
        </p:nvSpPr>
        <p:spPr>
          <a:xfrm>
            <a:off x="7659941" y="5770904"/>
            <a:ext cx="2966022" cy="295990"/>
          </a:xfrm>
          <a:prstGeom prst="roundRect">
            <a:avLst>
              <a:gd name="adj" fmla="val 690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Best Model (Hypothesis / Parameters)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1CB487D-F699-31D5-D478-9D041D1522DF}"/>
              </a:ext>
            </a:extLst>
          </p:cNvPr>
          <p:cNvSpPr/>
          <p:nvPr/>
        </p:nvSpPr>
        <p:spPr>
          <a:xfrm>
            <a:off x="533887" y="6190508"/>
            <a:ext cx="10092075" cy="27383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Visualization of Training (loss curves / accuracy curve) 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1BC8836-9B42-4F1D-81C8-EDDD5EB0FF60}"/>
              </a:ext>
            </a:extLst>
          </p:cNvPr>
          <p:cNvSpPr/>
          <p:nvPr/>
        </p:nvSpPr>
        <p:spPr>
          <a:xfrm>
            <a:off x="11097042" y="411338"/>
            <a:ext cx="239110" cy="6223055"/>
          </a:xfrm>
          <a:prstGeom prst="roundRect">
            <a:avLst>
              <a:gd name="adj" fmla="val 1904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Prediction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(test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dataset)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93EDC5E-2BE9-D16C-66AA-99DDFB2B4CEC}"/>
              </a:ext>
            </a:extLst>
          </p:cNvPr>
          <p:cNvSpPr/>
          <p:nvPr/>
        </p:nvSpPr>
        <p:spPr>
          <a:xfrm>
            <a:off x="11415551" y="406911"/>
            <a:ext cx="671773" cy="6227483"/>
          </a:xfrm>
          <a:prstGeom prst="roundRect">
            <a:avLst>
              <a:gd name="adj" fmla="val 9241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Visualization</a:t>
            </a:r>
          </a:p>
        </p:txBody>
      </p:sp>
      <p:sp>
        <p:nvSpPr>
          <p:cNvPr id="46" name="Down Arrow 45">
            <a:extLst>
              <a:ext uri="{FF2B5EF4-FFF2-40B4-BE49-F238E27FC236}">
                <a16:creationId xmlns:a16="http://schemas.microsoft.com/office/drawing/2014/main" id="{78023135-CB19-77C2-67FF-6C654C849321}"/>
              </a:ext>
            </a:extLst>
          </p:cNvPr>
          <p:cNvSpPr/>
          <p:nvPr/>
        </p:nvSpPr>
        <p:spPr>
          <a:xfrm>
            <a:off x="814584" y="627841"/>
            <a:ext cx="282124" cy="756640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-turn Arrow 46">
            <a:extLst>
              <a:ext uri="{FF2B5EF4-FFF2-40B4-BE49-F238E27FC236}">
                <a16:creationId xmlns:a16="http://schemas.microsoft.com/office/drawing/2014/main" id="{F01D416B-F2C4-9C7E-67B9-4DB1F6CB4B40}"/>
              </a:ext>
            </a:extLst>
          </p:cNvPr>
          <p:cNvSpPr/>
          <p:nvPr/>
        </p:nvSpPr>
        <p:spPr>
          <a:xfrm flipV="1">
            <a:off x="9318655" y="6014079"/>
            <a:ext cx="2052830" cy="726915"/>
          </a:xfrm>
          <a:prstGeom prst="uturnArrow">
            <a:avLst>
              <a:gd name="adj1" fmla="val 14158"/>
              <a:gd name="adj2" fmla="val 25000"/>
              <a:gd name="adj3" fmla="val 16507"/>
              <a:gd name="adj4" fmla="val 50000"/>
              <a:gd name="adj5" fmla="val 75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7C5A3E7-4F8E-35ED-0F93-6BBD2509D0B1}"/>
              </a:ext>
            </a:extLst>
          </p:cNvPr>
          <p:cNvSpPr/>
          <p:nvPr/>
        </p:nvSpPr>
        <p:spPr>
          <a:xfrm>
            <a:off x="11460235" y="1779890"/>
            <a:ext cx="593829" cy="1062547"/>
          </a:xfrm>
          <a:prstGeom prst="roundRect">
            <a:avLst>
              <a:gd name="adj" fmla="val 19044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Confusion Matrix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D5C30C9-7419-4482-0F1A-C92381EC4E7A}"/>
              </a:ext>
            </a:extLst>
          </p:cNvPr>
          <p:cNvSpPr/>
          <p:nvPr/>
        </p:nvSpPr>
        <p:spPr>
          <a:xfrm>
            <a:off x="11462214" y="2953636"/>
            <a:ext cx="593829" cy="1566361"/>
          </a:xfrm>
          <a:prstGeom prst="roundRect">
            <a:avLst>
              <a:gd name="adj" fmla="val 19044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Classification Report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48821D3-76B3-C4CF-FC63-661B9071CDF5}"/>
              </a:ext>
            </a:extLst>
          </p:cNvPr>
          <p:cNvSpPr/>
          <p:nvPr/>
        </p:nvSpPr>
        <p:spPr>
          <a:xfrm>
            <a:off x="11462214" y="4631196"/>
            <a:ext cx="593829" cy="1581225"/>
          </a:xfrm>
          <a:prstGeom prst="roundRect">
            <a:avLst>
              <a:gd name="adj" fmla="val 19044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ROC Curves and AUC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18C812D-3860-77F6-010E-4DF87491CDA3}"/>
              </a:ext>
            </a:extLst>
          </p:cNvPr>
          <p:cNvSpPr/>
          <p:nvPr/>
        </p:nvSpPr>
        <p:spPr>
          <a:xfrm>
            <a:off x="9466324" y="320383"/>
            <a:ext cx="1201128" cy="494234"/>
          </a:xfrm>
          <a:prstGeom prst="ellipse">
            <a:avLst/>
          </a:prstGeom>
          <a:solidFill>
            <a:schemeClr val="accent5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42B1F56-BCFD-2B45-E26D-1E0E1AB5F553}"/>
              </a:ext>
            </a:extLst>
          </p:cNvPr>
          <p:cNvSpPr/>
          <p:nvPr/>
        </p:nvSpPr>
        <p:spPr>
          <a:xfrm>
            <a:off x="9246871" y="4882875"/>
            <a:ext cx="1828010" cy="626163"/>
          </a:xfrm>
          <a:prstGeom prst="ellipse">
            <a:avLst/>
          </a:prstGeom>
          <a:solidFill>
            <a:schemeClr val="accent5">
              <a:alpha val="9349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Criterion</a:t>
            </a: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C0B54808-DB7F-AD55-A33F-247F66821939}"/>
              </a:ext>
            </a:extLst>
          </p:cNvPr>
          <p:cNvSpPr/>
          <p:nvPr/>
        </p:nvSpPr>
        <p:spPr>
          <a:xfrm rot="10800000">
            <a:off x="533887" y="5475462"/>
            <a:ext cx="315310" cy="234851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U-turn Arrow 53">
            <a:extLst>
              <a:ext uri="{FF2B5EF4-FFF2-40B4-BE49-F238E27FC236}">
                <a16:creationId xmlns:a16="http://schemas.microsoft.com/office/drawing/2014/main" id="{E2CE294A-6EBA-592A-6BA0-546BAB5CBFA1}"/>
              </a:ext>
            </a:extLst>
          </p:cNvPr>
          <p:cNvSpPr/>
          <p:nvPr/>
        </p:nvSpPr>
        <p:spPr>
          <a:xfrm flipV="1">
            <a:off x="11276910" y="6464338"/>
            <a:ext cx="669683" cy="307147"/>
          </a:xfrm>
          <a:prstGeom prst="uturnArrow">
            <a:avLst>
              <a:gd name="adj1" fmla="val 14158"/>
              <a:gd name="adj2" fmla="val 25000"/>
              <a:gd name="adj3" fmla="val 16507"/>
              <a:gd name="adj4" fmla="val 50000"/>
              <a:gd name="adj5" fmla="val 75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91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26" y="489250"/>
            <a:ext cx="11014060" cy="979204"/>
          </a:xfrm>
        </p:spPr>
        <p:txBody>
          <a:bodyPr/>
          <a:lstStyle/>
          <a:p>
            <a:r>
              <a:rPr lang="en-US" altLang="zh-CN" sz="3000" dirty="0"/>
              <a:t>3.</a:t>
            </a:r>
            <a:r>
              <a:rPr lang="zh-CN" altLang="en-US" sz="3000" dirty="0"/>
              <a:t> </a:t>
            </a:r>
            <a:r>
              <a:rPr lang="en-AU" sz="3000" dirty="0"/>
              <a:t>CNN Container and Components</a:t>
            </a:r>
            <a:endParaRPr lang="en-US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438409"/>
            <a:ext cx="5797427" cy="2324081"/>
          </a:xfrm>
        </p:spPr>
        <p:txBody>
          <a:bodyPr/>
          <a:lstStyle/>
          <a:p>
            <a:r>
              <a:rPr lang="en-US" altLang="zh-CN" b="1" dirty="0"/>
              <a:t>3.1</a:t>
            </a:r>
            <a:r>
              <a:rPr lang="zh-CN" altLang="en-US" b="1" dirty="0"/>
              <a:t> </a:t>
            </a:r>
            <a:r>
              <a:rPr lang="en-AU" b="1" dirty="0"/>
              <a:t>CNN Components</a:t>
            </a:r>
          </a:p>
          <a:p>
            <a:r>
              <a:rPr lang="en-US" altLang="zh-CN" b="1" dirty="0"/>
              <a:t>3.2</a:t>
            </a:r>
            <a:r>
              <a:rPr lang="zh-CN" altLang="en-US" b="1" dirty="0"/>
              <a:t> </a:t>
            </a:r>
            <a:r>
              <a:rPr lang="en-US" altLang="zh-CN" b="1" dirty="0"/>
              <a:t>CNN</a:t>
            </a:r>
            <a:r>
              <a:rPr lang="zh-CN" altLang="en-US" b="1" dirty="0"/>
              <a:t> </a:t>
            </a:r>
            <a:r>
              <a:rPr lang="en-US" altLang="zh-CN" b="1" dirty="0"/>
              <a:t>Container</a:t>
            </a:r>
          </a:p>
          <a:p>
            <a:r>
              <a:rPr lang="en-US" altLang="zh-CN" b="1" dirty="0"/>
              <a:t>3.3</a:t>
            </a:r>
            <a:r>
              <a:rPr lang="zh-CN" altLang="en-US" b="1" dirty="0"/>
              <a:t> </a:t>
            </a:r>
            <a:r>
              <a:rPr lang="en-US" altLang="zh-CN" b="1" dirty="0"/>
              <a:t>Convolutional</a:t>
            </a:r>
            <a:r>
              <a:rPr lang="zh-CN" altLang="en-US" b="1" dirty="0"/>
              <a:t> </a:t>
            </a:r>
            <a:r>
              <a:rPr lang="en-US" altLang="zh-CN" b="1" dirty="0"/>
              <a:t>Computation</a:t>
            </a:r>
            <a:r>
              <a:rPr lang="zh-CN" altLang="en-US" b="1" dirty="0"/>
              <a:t> </a:t>
            </a:r>
            <a:r>
              <a:rPr lang="en-US" altLang="zh-CN" b="1" dirty="0"/>
              <a:t>Understanding</a:t>
            </a:r>
            <a:endParaRPr lang="en-US" b="1" dirty="0"/>
          </a:p>
        </p:txBody>
      </p:sp>
      <p:pic>
        <p:nvPicPr>
          <p:cNvPr id="14" name="Picture Placeholder 14" descr="White modern architecture">
            <a:extLst>
              <a:ext uri="{FF2B5EF4-FFF2-40B4-BE49-F238E27FC236}">
                <a16:creationId xmlns:a16="http://schemas.microsoft.com/office/drawing/2014/main" id="{F96F20C9-F169-573A-32C0-8FA15642A6D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F6A0489E-C8E2-CAE5-9FFC-28CC9E086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D396BF65-AA7F-3F0F-FE49-EA87C28282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4325A5-D39C-C1D3-2E04-F741DCBB2B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7ECE-6B8F-A6C6-C92D-4C1BB62455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8CC3-7107-300E-F28E-20A5D6EB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707" y="170968"/>
            <a:ext cx="11484244" cy="652054"/>
          </a:xfrm>
        </p:spPr>
        <p:txBody>
          <a:bodyPr/>
          <a:lstStyle/>
          <a:p>
            <a:pPr algn="l"/>
            <a:r>
              <a:rPr lang="en-AU" sz="3200" dirty="0"/>
              <a:t>3.</a:t>
            </a:r>
            <a:r>
              <a:rPr lang="en-US" altLang="zh-CN" sz="3200" dirty="0"/>
              <a:t>1</a:t>
            </a:r>
            <a:r>
              <a:rPr lang="zh-CN" altLang="en-US" sz="3200" dirty="0"/>
              <a:t> </a:t>
            </a:r>
            <a:r>
              <a:rPr lang="en-AU" sz="3200" dirty="0"/>
              <a:t>CNN Components</a:t>
            </a:r>
            <a:endParaRPr lang="en-US" sz="32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2019C-5BC9-A628-7DDB-469DAE4B64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8C79-AE91-FF3F-0612-FC961FFD3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B734899-AEC6-D11D-302F-E42FC1AD38BF}"/>
              </a:ext>
            </a:extLst>
          </p:cNvPr>
          <p:cNvSpPr txBox="1">
            <a:spLocks/>
          </p:cNvSpPr>
          <p:nvPr/>
        </p:nvSpPr>
        <p:spPr>
          <a:xfrm>
            <a:off x="1546412" y="1216599"/>
            <a:ext cx="9610904" cy="46808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Convolution </a:t>
            </a:r>
            <a:r>
              <a:rPr lang="en-AU" dirty="0"/>
              <a:t>– Feature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MaxPooling </a:t>
            </a:r>
            <a:r>
              <a:rPr lang="en-AU" dirty="0"/>
              <a:t>– Down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Flatten</a:t>
            </a:r>
            <a:r>
              <a:rPr lang="en-AU" dirty="0"/>
              <a:t> – Converts feature maps to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Dense</a:t>
            </a:r>
            <a:r>
              <a:rPr lang="en-AU" dirty="0"/>
              <a:t> – Fully connected layer for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ReLU</a:t>
            </a:r>
            <a:r>
              <a:rPr lang="en-AU" dirty="0"/>
              <a:t> – Non-linear activation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Dropout</a:t>
            </a:r>
            <a:r>
              <a:rPr lang="en-AU" dirty="0"/>
              <a:t> – Prevents overfitting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SoftMax</a:t>
            </a:r>
            <a:r>
              <a:rPr lang="en-AU" dirty="0"/>
              <a:t> – Outputs class probabilities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8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659773-9CD4-B931-C9B6-88281CB1C6D3}"/>
              </a:ext>
            </a:extLst>
          </p:cNvPr>
          <p:cNvSpPr/>
          <p:nvPr/>
        </p:nvSpPr>
        <p:spPr>
          <a:xfrm>
            <a:off x="479604" y="832370"/>
            <a:ext cx="8549640" cy="3800076"/>
          </a:xfrm>
          <a:prstGeom prst="roundRect">
            <a:avLst>
              <a:gd name="adj" fmla="val 251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E9C906-C01E-579F-3577-EE4713875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68980"/>
                  </p:ext>
                </p:extLst>
              </p:nvPr>
            </p:nvGraphicFramePr>
            <p:xfrm>
              <a:off x="628815" y="1173903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44515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Layers -&gt;</a:t>
                          </a:r>
                        </a:p>
                        <a:p>
                          <a:r>
                            <a:rPr lang="en-AU" sz="800" dirty="0"/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61399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34155">
                    <a:tc>
                      <a:txBody>
                        <a:bodyPr/>
                        <a:lstStyle/>
                        <a:p>
                          <a:r>
                            <a:rPr lang="en-AU" sz="800" b="1" dirty="0"/>
                            <a:t>Forward</a:t>
                          </a:r>
                          <a:r>
                            <a:rPr lang="en-AU" sz="800" dirty="0"/>
                            <a:t> </a:t>
                          </a:r>
                          <a:r>
                            <a:rPr lang="en-AU" sz="800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C)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C=class labels (logits)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797777">
                    <a:tc>
                      <a:txBody>
                        <a:bodyPr/>
                        <a:lstStyle/>
                        <a:p>
                          <a:r>
                            <a:rPr lang="en-AU" sz="800" b="1" dirty="0"/>
                            <a:t>Backward</a:t>
                          </a:r>
                        </a:p>
                        <a:p>
                          <a:r>
                            <a:rPr lang="en-AU" sz="800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𝑟𝑒𝑠h𝑎𝑝𝑒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𝑜𝑟𝑔𝑖𝑛𝑎𝑙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E9C906-C01E-579F-3577-EE4713875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68980"/>
                  </p:ext>
                </p:extLst>
              </p:nvPr>
            </p:nvGraphicFramePr>
            <p:xfrm>
              <a:off x="628815" y="1173903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Layers -&gt;</a:t>
                          </a:r>
                        </a:p>
                        <a:p>
                          <a:r>
                            <a:rPr lang="en-AU" sz="800" dirty="0"/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r>
                            <a:rPr lang="en-AU" sz="800" b="1" dirty="0"/>
                            <a:t>Forward</a:t>
                          </a:r>
                          <a:r>
                            <a:rPr lang="en-AU" sz="800" dirty="0"/>
                            <a:t> </a:t>
                          </a:r>
                          <a:r>
                            <a:rPr lang="en-AU" sz="800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98810" r="-366667" b="-1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98810" r="-272581" b="-1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98810" r="-182558" b="-1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98810" r="-78409" b="-1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AU" sz="800" b="1" dirty="0"/>
                            <a:t>Backward</a:t>
                          </a:r>
                        </a:p>
                        <a:p>
                          <a:r>
                            <a:rPr lang="en-AU" sz="800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256923" r="-366667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256923" r="-272581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6842" t="-256923" r="-255789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256923" r="-182558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256923" r="-78409" b="-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828571" r="-36666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828571" r="-27258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828571" r="-18255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828571" r="-78409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DCE45EE-12D3-0D44-2A75-812D165D406E}"/>
              </a:ext>
            </a:extLst>
          </p:cNvPr>
          <p:cNvSpPr txBox="1"/>
          <p:nvPr/>
        </p:nvSpPr>
        <p:spPr>
          <a:xfrm>
            <a:off x="561683" y="823022"/>
            <a:ext cx="186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CNN Container</a:t>
            </a: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018CCE5C-7ABB-0ACA-BC12-3A6AEF6A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707" y="170968"/>
            <a:ext cx="11484244" cy="652054"/>
          </a:xfrm>
        </p:spPr>
        <p:txBody>
          <a:bodyPr/>
          <a:lstStyle/>
          <a:p>
            <a:pPr algn="l"/>
            <a:r>
              <a:rPr lang="en-AU" sz="3200" dirty="0"/>
              <a:t>3.</a:t>
            </a:r>
            <a:r>
              <a:rPr lang="en-US" altLang="zh-CN" sz="3200" dirty="0"/>
              <a:t>2</a:t>
            </a:r>
            <a:r>
              <a:rPr lang="en-AU" sz="3200" dirty="0"/>
              <a:t> CNN Container</a:t>
            </a:r>
            <a:endParaRPr lang="en-US" sz="3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5ABC25-6953-F7AC-0356-BB457F54B454}"/>
              </a:ext>
            </a:extLst>
          </p:cNvPr>
          <p:cNvSpPr txBox="1"/>
          <p:nvPr/>
        </p:nvSpPr>
        <p:spPr>
          <a:xfrm>
            <a:off x="479604" y="4795203"/>
            <a:ext cx="11049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Organizes layers in sequence for easy model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Handles </a:t>
            </a:r>
            <a:r>
              <a:rPr lang="en-AU" b="1" dirty="0"/>
              <a:t>forward</a:t>
            </a:r>
            <a:r>
              <a:rPr lang="en-AU" dirty="0"/>
              <a:t> and </a:t>
            </a:r>
            <a:r>
              <a:rPr lang="en-AU" b="1" dirty="0"/>
              <a:t>backward</a:t>
            </a:r>
            <a:r>
              <a:rPr lang="en-AU" dirty="0"/>
              <a:t> propagation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Manages </a:t>
            </a:r>
            <a:r>
              <a:rPr lang="en-AU" b="1" dirty="0"/>
              <a:t>parameters</a:t>
            </a:r>
            <a:r>
              <a:rPr lang="en-AU" dirty="0"/>
              <a:t> and </a:t>
            </a:r>
            <a:r>
              <a:rPr lang="en-AU" b="1" dirty="0"/>
              <a:t>gradients</a:t>
            </a:r>
            <a:r>
              <a:rPr lang="en-AU" dirty="0"/>
              <a:t> for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Supports layer initialization, training, debugging, and performance tracking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7934E916-55F3-4AFA-34F3-202D978858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UTS KUANLONG LI / 20 OCT 2025</a:t>
            </a:r>
          </a:p>
        </p:txBody>
      </p:sp>
    </p:spTree>
    <p:extLst>
      <p:ext uri="{BB962C8B-B14F-4D97-AF65-F5344CB8AC3E}">
        <p14:creationId xmlns:p14="http://schemas.microsoft.com/office/powerpoint/2010/main" val="394295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5328-07EB-6A70-6858-6502659C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>
            <a:extLst>
              <a:ext uri="{FF2B5EF4-FFF2-40B4-BE49-F238E27FC236}">
                <a16:creationId xmlns:a16="http://schemas.microsoft.com/office/drawing/2014/main" id="{EB7D1E14-8459-701B-0B82-46D00B670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707" y="170968"/>
            <a:ext cx="11484244" cy="652054"/>
          </a:xfrm>
        </p:spPr>
        <p:txBody>
          <a:bodyPr/>
          <a:lstStyle/>
          <a:p>
            <a:pPr algn="l"/>
            <a:r>
              <a:rPr lang="en-AU" sz="2800" dirty="0"/>
              <a:t>3.</a:t>
            </a:r>
            <a:r>
              <a:rPr lang="en-US" altLang="zh-CN" sz="2800" dirty="0"/>
              <a:t>3</a:t>
            </a:r>
            <a:r>
              <a:rPr lang="en-AU" sz="2800" dirty="0"/>
              <a:t> </a:t>
            </a:r>
            <a:r>
              <a:rPr lang="en-US" altLang="zh-CN" sz="2800" dirty="0"/>
              <a:t>Convolutional</a:t>
            </a:r>
            <a:r>
              <a:rPr lang="zh-CN" altLang="en-US" sz="2800" dirty="0"/>
              <a:t> </a:t>
            </a:r>
            <a:r>
              <a:rPr lang="en-US" altLang="zh-CN" sz="2800" dirty="0"/>
              <a:t>COMPUTATION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FDC73-A187-87B6-49AE-1162CEEED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9" y="790471"/>
            <a:ext cx="7309975" cy="5896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2618F5-3CDE-A6BF-0834-1BF2B79E28CE}"/>
              </a:ext>
            </a:extLst>
          </p:cNvPr>
          <p:cNvSpPr txBox="1"/>
          <p:nvPr/>
        </p:nvSpPr>
        <p:spPr>
          <a:xfrm>
            <a:off x="7694025" y="1043731"/>
            <a:ext cx="4009424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è"/>
            </a:pPr>
            <a:r>
              <a:rPr lang="en-US" sz="1600" b="1" dirty="0"/>
              <a:t>Input shape (N,H,W,C)</a:t>
            </a:r>
          </a:p>
          <a:p>
            <a:r>
              <a:rPr lang="en-US" sz="1600" b="1" dirty="0"/>
              <a:t>                            (8, 28, 28, 3)</a:t>
            </a:r>
          </a:p>
          <a:p>
            <a:endParaRPr lang="en-US" sz="1600" dirty="0"/>
          </a:p>
          <a:p>
            <a:r>
              <a:rPr lang="en-US" sz="1600" dirty="0"/>
              <a:t>out channels = 32</a:t>
            </a:r>
          </a:p>
          <a:p>
            <a:r>
              <a:rPr lang="en-US" sz="1600" dirty="0"/>
              <a:t>kernel groups = 32</a:t>
            </a:r>
          </a:p>
          <a:p>
            <a:r>
              <a:rPr lang="en-US" sz="1600" dirty="0"/>
              <a:t>Biases = 32</a:t>
            </a:r>
          </a:p>
          <a:p>
            <a:endParaRPr lang="en-US" sz="1600" dirty="0"/>
          </a:p>
          <a:p>
            <a:r>
              <a:rPr lang="en-US" sz="1600" dirty="0"/>
              <a:t>1 kernel group = 3 single kernel</a:t>
            </a:r>
          </a:p>
          <a:p>
            <a:r>
              <a:rPr lang="en-US" sz="1600" dirty="0"/>
              <a:t>1 kernel group shape = (3,3,3)</a:t>
            </a:r>
          </a:p>
          <a:p>
            <a:r>
              <a:rPr lang="en-US" sz="1600" dirty="0"/>
              <a:t>1 single kernel shape = (3,3)</a:t>
            </a:r>
          </a:p>
          <a:p>
            <a:endParaRPr lang="en-US" sz="1600" dirty="0"/>
          </a:p>
          <a:p>
            <a:pPr marL="285750" indent="-285750">
              <a:buFont typeface="Wingdings" pitchFamily="2" charset="2"/>
              <a:buChar char="è"/>
            </a:pPr>
            <a:r>
              <a:rPr lang="en-US" sz="1600" dirty="0"/>
              <a:t>Number of Parameters:</a:t>
            </a:r>
          </a:p>
          <a:p>
            <a:r>
              <a:rPr lang="en-US" sz="1600" dirty="0"/>
              <a:t>     (3*3*3) * 32  + 32 = 896</a:t>
            </a:r>
          </a:p>
          <a:p>
            <a:endParaRPr lang="en-US" sz="1600" dirty="0"/>
          </a:p>
          <a:p>
            <a:pPr marL="285750" indent="-285750">
              <a:buFont typeface="Wingdings" pitchFamily="2" charset="2"/>
              <a:buChar char="è"/>
            </a:pPr>
            <a:r>
              <a:rPr lang="en-US" sz="1600" b="1" dirty="0"/>
              <a:t>Output shape (N,H,W,C)</a:t>
            </a:r>
          </a:p>
          <a:p>
            <a:r>
              <a:rPr lang="en-US" sz="1600" b="1" dirty="0"/>
              <a:t>	              (8, 26, 26, 32)</a:t>
            </a:r>
          </a:p>
          <a:p>
            <a:r>
              <a:rPr lang="en-US" sz="1600" dirty="0"/>
              <a:t>      (no padding, stride = 1)</a:t>
            </a:r>
          </a:p>
          <a:p>
            <a:endParaRPr lang="en-US" sz="1600" dirty="0"/>
          </a:p>
          <a:p>
            <a:r>
              <a:rPr lang="en-US" sz="1600" b="1" dirty="0"/>
              <a:t>One kernel group -&gt; one feature map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C31E46FC-7E0B-0C79-A338-F44839C2E3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UTS KUANLONG LI / 20 OCT 2025</a:t>
            </a:r>
          </a:p>
        </p:txBody>
      </p:sp>
    </p:spTree>
    <p:extLst>
      <p:ext uri="{BB962C8B-B14F-4D97-AF65-F5344CB8AC3E}">
        <p14:creationId xmlns:p14="http://schemas.microsoft.com/office/powerpoint/2010/main" val="204195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8CA53F-F8EE-9AA8-01B7-F90566F159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5384B4-F5D2-6521-EDF6-AAF2511DE1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FB22B1-A8C3-042A-1266-45ADC58F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45" y="493845"/>
            <a:ext cx="11158597" cy="583387"/>
          </a:xfrm>
        </p:spPr>
        <p:txBody>
          <a:bodyPr/>
          <a:lstStyle/>
          <a:p>
            <a:pPr algn="l"/>
            <a:r>
              <a:rPr lang="en-AU" sz="3200" b="1" dirty="0"/>
              <a:t>4. CNN Criterion and OPTIMIZER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6DDCD-1B3D-5287-60F5-12F7EE5636AD}"/>
              </a:ext>
            </a:extLst>
          </p:cNvPr>
          <p:cNvSpPr txBox="1"/>
          <p:nvPr/>
        </p:nvSpPr>
        <p:spPr>
          <a:xfrm>
            <a:off x="5556637" y="2274838"/>
            <a:ext cx="5596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2400" b="1" i="0" dirty="0">
                <a:solidFill>
                  <a:srgbClr val="1F1F1F"/>
                </a:solidFill>
                <a:effectLst/>
                <a:latin typeface="Google Sans Text"/>
              </a:rPr>
              <a:t>4.1</a:t>
            </a:r>
            <a:r>
              <a:rPr lang="zh-CN" altLang="en-US" sz="2400" b="1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en-US" altLang="zh-CN" sz="2400" b="1" i="0" dirty="0">
                <a:solidFill>
                  <a:srgbClr val="1F1F1F"/>
                </a:solidFill>
                <a:effectLst/>
                <a:latin typeface="Google Sans Text"/>
              </a:rPr>
              <a:t>CRITERION - (</a:t>
            </a:r>
            <a:r>
              <a:rPr lang="en-US" altLang="zh-CN" sz="2400" b="1" dirty="0">
                <a:solidFill>
                  <a:srgbClr val="1F1F1F"/>
                </a:solidFill>
                <a:latin typeface="Google Sans Text"/>
              </a:rPr>
              <a:t>CORSS-ENTORPY)</a:t>
            </a:r>
          </a:p>
          <a:p>
            <a:pPr algn="l">
              <a:buNone/>
            </a:pPr>
            <a:endParaRPr lang="en-AU" altLang="zh-CN" sz="2400" b="1" dirty="0">
              <a:solidFill>
                <a:srgbClr val="1F1F1F"/>
              </a:solidFill>
              <a:latin typeface="Google Sans Text"/>
            </a:endParaRPr>
          </a:p>
          <a:p>
            <a:pPr algn="l">
              <a:buNone/>
            </a:pPr>
            <a:r>
              <a:rPr lang="en-US" altLang="zh-CN" sz="2400" b="1" i="0" dirty="0">
                <a:solidFill>
                  <a:srgbClr val="1F1F1F"/>
                </a:solidFill>
                <a:effectLst/>
                <a:latin typeface="Google Sans Text"/>
              </a:rPr>
              <a:t>4.2</a:t>
            </a:r>
            <a:r>
              <a:rPr lang="zh-CN" altLang="en-US" sz="2400" b="1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en-US" altLang="zh-CN" sz="2400" b="1" i="0" dirty="0">
                <a:solidFill>
                  <a:srgbClr val="1F1F1F"/>
                </a:solidFill>
                <a:effectLst/>
                <a:latin typeface="Google Sans Text"/>
              </a:rPr>
              <a:t>OPTIMIZER -</a:t>
            </a:r>
            <a:r>
              <a:rPr lang="zh-CN" altLang="en-US" sz="2400" b="1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en-US" altLang="zh-CN" sz="2400" b="1" dirty="0">
                <a:solidFill>
                  <a:srgbClr val="1F1F1F"/>
                </a:solidFill>
                <a:latin typeface="Google Sans Text"/>
              </a:rPr>
              <a:t>(SGD)</a:t>
            </a:r>
          </a:p>
        </p:txBody>
      </p:sp>
    </p:spTree>
    <p:extLst>
      <p:ext uri="{BB962C8B-B14F-4D97-AF65-F5344CB8AC3E}">
        <p14:creationId xmlns:p14="http://schemas.microsoft.com/office/powerpoint/2010/main" val="140965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926D-3600-79CA-C19E-6E66E193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181780-E34A-5639-1550-D3609577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46" y="372719"/>
            <a:ext cx="11156302" cy="652054"/>
          </a:xfrm>
        </p:spPr>
        <p:txBody>
          <a:bodyPr/>
          <a:lstStyle/>
          <a:p>
            <a:pPr algn="l"/>
            <a:r>
              <a:rPr lang="en-AU" sz="2400" dirty="0">
                <a:solidFill>
                  <a:srgbClr val="1F1F1F"/>
                </a:solidFill>
              </a:rPr>
              <a:t>4.1 </a:t>
            </a:r>
            <a:r>
              <a:rPr lang="en-AU" sz="2400" dirty="0"/>
              <a:t>Cross-Entropy Loss(with </a:t>
            </a:r>
            <a:r>
              <a:rPr lang="en-AU" sz="2400" dirty="0" err="1"/>
              <a:t>Softmax</a:t>
            </a:r>
            <a:r>
              <a:rPr lang="en-AU" sz="2400" dirty="0"/>
              <a:t>)</a:t>
            </a:r>
            <a:endParaRPr lang="en-US" sz="2400" dirty="0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2D3CAD32-4F3E-704A-653E-C40EA678A92E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9C86C83E-9F28-346D-E339-3B7D3D8D8904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EBB4280-850F-1905-6F16-CCFA52EAD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1" y="1144042"/>
            <a:ext cx="8040491" cy="369703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D61A988-C4E1-0C65-9D70-5CDD2EF48A06}"/>
              </a:ext>
            </a:extLst>
          </p:cNvPr>
          <p:cNvSpPr txBox="1"/>
          <p:nvPr/>
        </p:nvSpPr>
        <p:spPr>
          <a:xfrm>
            <a:off x="412846" y="5113793"/>
            <a:ext cx="9711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Key Ideas: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 err="1"/>
              <a:t>Softmax</a:t>
            </a:r>
            <a:r>
              <a:rPr lang="en-AU" dirty="0"/>
              <a:t> converts logits to probabilities.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Cross-entropy measures the gap between predicted and true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Gradient shows how each logit should adjust during backpropagation.</a:t>
            </a:r>
          </a:p>
        </p:txBody>
      </p:sp>
    </p:spTree>
    <p:extLst>
      <p:ext uri="{BB962C8B-B14F-4D97-AF65-F5344CB8AC3E}">
        <p14:creationId xmlns:p14="http://schemas.microsoft.com/office/powerpoint/2010/main" val="174151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492E-1E6A-B42B-A2FB-CFA92757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27B0C-F371-89AB-D081-84A41AE2E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46" y="372719"/>
            <a:ext cx="11156302" cy="652054"/>
          </a:xfrm>
        </p:spPr>
        <p:txBody>
          <a:bodyPr/>
          <a:lstStyle/>
          <a:p>
            <a:pPr algn="l"/>
            <a:r>
              <a:rPr lang="en-AU" sz="2400" dirty="0">
                <a:solidFill>
                  <a:srgbClr val="1F1F1F"/>
                </a:solidFill>
              </a:rPr>
              <a:t>4.2 </a:t>
            </a:r>
            <a:r>
              <a:rPr lang="en-AU" sz="2400" dirty="0"/>
              <a:t>SGD(Stochastic Gradient Descent)</a:t>
            </a:r>
            <a:endParaRPr lang="en-US" sz="2400" dirty="0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9F87A5FA-FC93-CADC-BB7B-1A373EA695C3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983BBD51-0B4B-620F-DDD4-4B7CFA0E1689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16A0C-A5CF-104B-2CC3-0830D89CCFC8}"/>
              </a:ext>
            </a:extLst>
          </p:cNvPr>
          <p:cNvSpPr txBox="1"/>
          <p:nvPr/>
        </p:nvSpPr>
        <p:spPr>
          <a:xfrm>
            <a:off x="412846" y="1024773"/>
            <a:ext cx="6109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Core Idea:</a:t>
            </a:r>
            <a:br>
              <a:rPr lang="en-AU" dirty="0"/>
            </a:br>
            <a:r>
              <a:rPr lang="en-AU" dirty="0"/>
              <a:t>Update parameters step by step to minimize the loss.</a:t>
            </a:r>
          </a:p>
          <a:p>
            <a:pPr>
              <a:buNone/>
            </a:pPr>
            <a:r>
              <a:rPr lang="en-AU" b="1" dirty="0"/>
              <a:t>Update Rule: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D4BF2-B2A3-6EE3-F629-D166B2B5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31" y="2023418"/>
            <a:ext cx="45720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96C3C5-D087-289E-8A69-58E95E53C2F7}"/>
                  </a:ext>
                </a:extLst>
              </p:cNvPr>
              <p:cNvSpPr txBox="1"/>
              <p:nvPr/>
            </p:nvSpPr>
            <p:spPr>
              <a:xfrm>
                <a:off x="412845" y="2957721"/>
                <a:ext cx="9751571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AU" b="1" dirty="0"/>
                  <a:t>Where:</a:t>
                </a:r>
                <a:endParaRPr lang="en-AU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AU" dirty="0"/>
                  <a:t>: Learning rate → controls step size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AU" i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AU" dirty="0"/>
                  <a:t>Gradient of loss </a:t>
                </a:r>
                <a:r>
                  <a:rPr lang="en-AU" dirty="0" err="1"/>
                  <a:t>wrt</a:t>
                </a:r>
                <a:r>
                  <a:rPr lang="en-AU" dirty="0"/>
                  <a:t> parameters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b="1"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AU" dirty="0"/>
                  <a:t>: Parameters (weights, biases)</a:t>
                </a:r>
              </a:p>
              <a:p>
                <a:endParaRPr lang="en-AU" dirty="0"/>
              </a:p>
              <a:p>
                <a:pPr>
                  <a:buNone/>
                </a:pPr>
                <a:r>
                  <a:rPr lang="en-AU" b="1" dirty="0"/>
                  <a:t>Concept:</a:t>
                </a:r>
                <a:endParaRPr lang="en-AU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Moves parameters </a:t>
                </a:r>
                <a:r>
                  <a:rPr lang="en-AU" i="1" dirty="0"/>
                  <a:t>in the opposite direction</a:t>
                </a:r>
                <a:r>
                  <a:rPr lang="en-AU" dirty="0"/>
                  <a:t> of the gradient.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Repeats this process each batch → “stochastic”.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Simple, efficient, widely used in deep learning.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96C3C5-D087-289E-8A69-58E95E53C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45" y="2957721"/>
                <a:ext cx="9751571" cy="2585323"/>
              </a:xfrm>
              <a:prstGeom prst="rect">
                <a:avLst/>
              </a:prstGeom>
              <a:blipFill>
                <a:blip r:embed="rId4"/>
                <a:stretch>
                  <a:fillRect l="-520" t="-976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04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EA43EF1-009B-DB7B-7D0C-2867BEE9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54" y="230234"/>
            <a:ext cx="8442390" cy="493244"/>
          </a:xfrm>
        </p:spPr>
        <p:txBody>
          <a:bodyPr/>
          <a:lstStyle/>
          <a:p>
            <a:r>
              <a:rPr lang="en-AU" dirty="0"/>
              <a:t>5. Training Framework</a:t>
            </a:r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8B0290DE-3F6E-5FEE-C40F-C7B3E29C3A7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7055" y="1898053"/>
            <a:ext cx="6131106" cy="631867"/>
          </a:xfrm>
        </p:spPr>
        <p:txBody>
          <a:bodyPr/>
          <a:lstStyle/>
          <a:p>
            <a:r>
              <a:rPr lang="en-US" dirty="0"/>
              <a:t>5.1 During one training batch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D9B5BCF7-83AF-F5C9-0423-147C64DDC5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57055" y="2747366"/>
            <a:ext cx="6131106" cy="631867"/>
          </a:xfrm>
        </p:spPr>
        <p:txBody>
          <a:bodyPr/>
          <a:lstStyle/>
          <a:p>
            <a:r>
              <a:rPr lang="en-US" dirty="0"/>
              <a:t>5.2 EPOCH</a:t>
            </a:r>
            <a:r>
              <a:rPr lang="en-AU" dirty="0"/>
              <a:t>-level TRAINING LOOP</a:t>
            </a:r>
            <a:endParaRPr lang="en-US" dirty="0"/>
          </a:p>
        </p:txBody>
      </p:sp>
      <p:pic>
        <p:nvPicPr>
          <p:cNvPr id="70" name="Picture Placeholder 31" descr="Large walking intersection with one lone person">
            <a:extLst>
              <a:ext uri="{FF2B5EF4-FFF2-40B4-BE49-F238E27FC236}">
                <a16:creationId xmlns:a16="http://schemas.microsoft.com/office/drawing/2014/main" id="{D1FC6153-A37A-EC14-7EEA-7335A559F9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44000" contrast="-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68" name="Picture Placeholder 11" descr="Close-up of skyscrapers">
            <a:extLst>
              <a:ext uri="{FF2B5EF4-FFF2-40B4-BE49-F238E27FC236}">
                <a16:creationId xmlns:a16="http://schemas.microsoft.com/office/drawing/2014/main" id="{A0327B68-D192-4EDA-F3AE-366C54CED4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26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 dpi="0"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47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24"/>
            </a:stretch>
          </a:blipFill>
        </p:spPr>
      </p:pic>
      <p:pic>
        <p:nvPicPr>
          <p:cNvPr id="69" name="Picture Placeholder 8" descr="Curved skyscraper against the blue sky">
            <a:extLst>
              <a:ext uri="{FF2B5EF4-FFF2-40B4-BE49-F238E27FC236}">
                <a16:creationId xmlns:a16="http://schemas.microsoft.com/office/drawing/2014/main" id="{EB131536-3790-0769-3F4B-54C44B98F3B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  <a14:imgEffect>
                      <a14:brightnessContrast brigh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78E9DBF-D6A0-80E9-5F4C-B1782C5CD470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B6B0F1EA-6238-43CB-79BF-1872F34BB86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92">
            <a:extLst>
              <a:ext uri="{FF2B5EF4-FFF2-40B4-BE49-F238E27FC236}">
                <a16:creationId xmlns:a16="http://schemas.microsoft.com/office/drawing/2014/main" id="{66AEC28B-E9EF-E8DB-E6DF-B263823FC62B}"/>
              </a:ext>
            </a:extLst>
          </p:cNvPr>
          <p:cNvSpPr txBox="1">
            <a:spLocks/>
          </p:cNvSpPr>
          <p:nvPr/>
        </p:nvSpPr>
        <p:spPr>
          <a:xfrm>
            <a:off x="357054" y="3537114"/>
            <a:ext cx="7258277" cy="6318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5.3 Validation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AU" dirty="0"/>
              <a:t>Early Stopping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F1FF8459-BD47-4502-A26F-B546D64F37B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B7C966D4-C0C9-F9AA-B8C0-3770EAC247CE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AD9D9344-065B-1F94-3C9D-DF090ADC52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613266"/>
                  </p:ext>
                </p:extLst>
              </p:nvPr>
            </p:nvGraphicFramePr>
            <p:xfrm>
              <a:off x="690957" y="1875169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44515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Layers -&gt;</a:t>
                          </a:r>
                        </a:p>
                        <a:p>
                          <a:r>
                            <a:rPr lang="en-AU" sz="800" dirty="0"/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61399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34155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Forward 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∑∑∑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𝑝𝑖𝑡𝑐h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∗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𝑘𝑒𝑟𝑛𝑒𝑙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r>
                            <a:rPr lang="en-AU" sz="800" dirty="0"/>
                            <a:t>To (N,H’,W’,C’)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From (N, in features)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To (N, C)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sz="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800" dirty="0"/>
                            <a:t>C=class labels (logits)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79777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Backward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AU" sz="800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𝑟𝑒𝑠h𝑎𝑝𝑒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𝑜𝑟𝑔𝑖𝑛𝑎𝑙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oMath>
                          </a14:m>
                          <a:endParaRPr lang="en-AU" sz="800" dirty="0"/>
                        </a:p>
                        <a:p>
                          <a:r>
                            <a:rPr lang="en-AU" sz="800" dirty="0"/>
                            <a:t>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, </m:t>
                              </m:r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,</m:t>
                              </m:r>
                            </m:oMath>
                          </a14:m>
                          <a:r>
                            <a:rPr lang="en-US" sz="800" b="0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800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AD9D9344-065B-1F94-3C9D-DF090ADC52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613266"/>
                  </p:ext>
                </p:extLst>
              </p:nvPr>
            </p:nvGraphicFramePr>
            <p:xfrm>
              <a:off x="690957" y="1875169"/>
              <a:ext cx="8294915" cy="3279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5954">
                      <a:extLst>
                        <a:ext uri="{9D8B030D-6E8A-4147-A177-3AD203B41FA5}">
                          <a16:colId xmlns:a16="http://schemas.microsoft.com/office/drawing/2014/main" val="2856239602"/>
                        </a:ext>
                      </a:extLst>
                    </a:gridCol>
                    <a:gridCol w="1595336">
                      <a:extLst>
                        <a:ext uri="{9D8B030D-6E8A-4147-A177-3AD203B41FA5}">
                          <a16:colId xmlns:a16="http://schemas.microsoft.com/office/drawing/2014/main" val="1589185715"/>
                        </a:ext>
                      </a:extLst>
                    </a:gridCol>
                    <a:gridCol w="1575881">
                      <a:extLst>
                        <a:ext uri="{9D8B030D-6E8A-4147-A177-3AD203B41FA5}">
                          <a16:colId xmlns:a16="http://schemas.microsoft.com/office/drawing/2014/main" val="4165915145"/>
                        </a:ext>
                      </a:extLst>
                    </a:gridCol>
                    <a:gridCol w="1199744">
                      <a:extLst>
                        <a:ext uri="{9D8B030D-6E8A-4147-A177-3AD203B41FA5}">
                          <a16:colId xmlns:a16="http://schemas.microsoft.com/office/drawing/2014/main" val="509490295"/>
                        </a:ext>
                      </a:extLst>
                    </a:gridCol>
                    <a:gridCol w="1089498">
                      <a:extLst>
                        <a:ext uri="{9D8B030D-6E8A-4147-A177-3AD203B41FA5}">
                          <a16:colId xmlns:a16="http://schemas.microsoft.com/office/drawing/2014/main" val="3442127965"/>
                        </a:ext>
                      </a:extLst>
                    </a:gridCol>
                    <a:gridCol w="1115438">
                      <a:extLst>
                        <a:ext uri="{9D8B030D-6E8A-4147-A177-3AD203B41FA5}">
                          <a16:colId xmlns:a16="http://schemas.microsoft.com/office/drawing/2014/main" val="235831934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135755214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Layers -&gt;</a:t>
                          </a:r>
                        </a:p>
                        <a:p>
                          <a:r>
                            <a:rPr lang="en-AU" sz="800" dirty="0"/>
                            <a:t>Phrases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Conv2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MaxPool2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Flatten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Dense-1</a:t>
                          </a:r>
                        </a:p>
                        <a:p>
                          <a:r>
                            <a:rPr lang="en-AU" sz="800" dirty="0"/>
                            <a:t>ReLU</a:t>
                          </a:r>
                        </a:p>
                        <a:p>
                          <a:r>
                            <a:rPr lang="en-AU" sz="800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Dense-2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SoftMax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1724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Initialization</a:t>
                          </a:r>
                        </a:p>
                        <a:p>
                          <a:r>
                            <a:rPr lang="en-AU" sz="800" dirty="0"/>
                            <a:t>building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Channel out, Channel in</a:t>
                          </a:r>
                        </a:p>
                        <a:p>
                          <a:r>
                            <a:rPr lang="en-AU" sz="800" dirty="0"/>
                            <a:t>Kernel size, Stride size</a:t>
                          </a:r>
                        </a:p>
                        <a:p>
                          <a:r>
                            <a:rPr lang="en-AU" sz="800" dirty="0"/>
                            <a:t>Padding</a:t>
                          </a:r>
                        </a:p>
                        <a:p>
                          <a:r>
                            <a:rPr lang="en-AU" sz="800" dirty="0"/>
                            <a:t>Weights and biases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  <a:p>
                          <a:r>
                            <a:rPr lang="en-AU" sz="800" dirty="0"/>
                            <a:t>Drop 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In_Features</a:t>
                          </a:r>
                        </a:p>
                        <a:p>
                          <a:r>
                            <a:rPr lang="en-AU" sz="800" dirty="0"/>
                            <a:t>Out Features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836441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Forward 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98810" r="-365873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98810" r="-271774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(N,H,W,C)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H*W*C)</a:t>
                          </a:r>
                        </a:p>
                        <a:p>
                          <a:r>
                            <a:rPr lang="en-AU" sz="800" dirty="0"/>
                            <a:t>Or (N, out features)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98810" r="-181395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98810" r="-77273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From (N, C) (logits)</a:t>
                          </a:r>
                        </a:p>
                        <a:p>
                          <a:endParaRPr lang="en-AU" sz="800" dirty="0"/>
                        </a:p>
                        <a:p>
                          <a:r>
                            <a:rPr lang="en-AU" sz="800" dirty="0"/>
                            <a:t>To (N, C) </a:t>
                          </a:r>
                        </a:p>
                        <a:p>
                          <a:r>
                            <a:rPr lang="en-AU" sz="800" dirty="0"/>
                            <a:t>(probs)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1610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Backward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256923" r="-365873" b="-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256923" r="-271774" b="-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6842" t="-256923" r="-254737" b="-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256923" r="-181395" b="-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256923" r="-77273" b="-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Paired with Cross-Entropy Loss</a:t>
                          </a:r>
                        </a:p>
                        <a:p>
                          <a:r>
                            <a:rPr lang="en-AU" sz="800" dirty="0"/>
                            <a:t>Computed in Loss backward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240139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Optimization</a:t>
                          </a:r>
                        </a:p>
                        <a:p>
                          <a:r>
                            <a:rPr lang="en-AU" sz="800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556" t="-828571" r="-365873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065" t="-828571" r="-271774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800" dirty="0"/>
                            <a:t>NO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558" t="-828571" r="-181395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9318" t="-828571" r="-77273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87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6E44294-D35C-9159-7B39-D1C3C06529BD}"/>
              </a:ext>
            </a:extLst>
          </p:cNvPr>
          <p:cNvSpPr txBox="1"/>
          <p:nvPr/>
        </p:nvSpPr>
        <p:spPr>
          <a:xfrm>
            <a:off x="623825" y="1524288"/>
            <a:ext cx="186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CNN Container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9479A3F-4A75-8CEC-4440-E369BCFC4268}"/>
              </a:ext>
            </a:extLst>
          </p:cNvPr>
          <p:cNvSpPr/>
          <p:nvPr/>
        </p:nvSpPr>
        <p:spPr>
          <a:xfrm>
            <a:off x="541747" y="5418576"/>
            <a:ext cx="9084510" cy="3754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        </a:t>
            </a:r>
            <a:r>
              <a:rPr lang="en-US" sz="1200" b="1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EB9B223-E0AD-860A-0494-FAC5FBCDB2C2}"/>
              </a:ext>
            </a:extLst>
          </p:cNvPr>
          <p:cNvSpPr/>
          <p:nvPr/>
        </p:nvSpPr>
        <p:spPr>
          <a:xfrm>
            <a:off x="2125424" y="5494385"/>
            <a:ext cx="3408467" cy="2710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SGD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6446E4C-BBDF-94EE-1D23-B23C654B8A75}"/>
              </a:ext>
            </a:extLst>
          </p:cNvPr>
          <p:cNvSpPr/>
          <p:nvPr/>
        </p:nvSpPr>
        <p:spPr>
          <a:xfrm>
            <a:off x="9120459" y="1533636"/>
            <a:ext cx="505798" cy="380007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DFB63BA-547A-920B-999B-F93391BF83C9}"/>
              </a:ext>
            </a:extLst>
          </p:cNvPr>
          <p:cNvSpPr/>
          <p:nvPr/>
        </p:nvSpPr>
        <p:spPr>
          <a:xfrm>
            <a:off x="9193543" y="2368339"/>
            <a:ext cx="368705" cy="279720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Cross-Entropy Loss Function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7DFE3B9-2B42-F977-15EB-1892B9B4AD72}"/>
              </a:ext>
            </a:extLst>
          </p:cNvPr>
          <p:cNvSpPr/>
          <p:nvPr/>
        </p:nvSpPr>
        <p:spPr>
          <a:xfrm>
            <a:off x="3620451" y="5513602"/>
            <a:ext cx="1402970" cy="23262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Learning rate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3D2AFF8-D8C1-03ED-565E-11E4E8467955}"/>
              </a:ext>
            </a:extLst>
          </p:cNvPr>
          <p:cNvSpPr/>
          <p:nvPr/>
        </p:nvSpPr>
        <p:spPr>
          <a:xfrm>
            <a:off x="541746" y="1524288"/>
            <a:ext cx="8549640" cy="3809424"/>
          </a:xfrm>
          <a:prstGeom prst="roundRect">
            <a:avLst>
              <a:gd name="adj" fmla="val 251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 CNN Container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B96B1E-F616-9BA2-95CC-D4CCC552D512}"/>
              </a:ext>
            </a:extLst>
          </p:cNvPr>
          <p:cNvSpPr/>
          <p:nvPr/>
        </p:nvSpPr>
        <p:spPr>
          <a:xfrm>
            <a:off x="8712252" y="5153066"/>
            <a:ext cx="1828010" cy="62616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Criterion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35241888-187D-B6CB-4C1E-EB02C1FD3625}"/>
              </a:ext>
            </a:extLst>
          </p:cNvPr>
          <p:cNvSpPr/>
          <p:nvPr/>
        </p:nvSpPr>
        <p:spPr>
          <a:xfrm>
            <a:off x="8476278" y="3112908"/>
            <a:ext cx="764318" cy="36319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B822B877-1634-A734-251E-119DE8639475}"/>
              </a:ext>
            </a:extLst>
          </p:cNvPr>
          <p:cNvSpPr/>
          <p:nvPr/>
        </p:nvSpPr>
        <p:spPr>
          <a:xfrm rot="10800000">
            <a:off x="8476277" y="4133922"/>
            <a:ext cx="717265" cy="36319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7DED83-46C7-5B69-9D69-FCE85A94310B}"/>
              </a:ext>
            </a:extLst>
          </p:cNvPr>
          <p:cNvSpPr txBox="1"/>
          <p:nvPr/>
        </p:nvSpPr>
        <p:spPr>
          <a:xfrm>
            <a:off x="7310163" y="3102328"/>
            <a:ext cx="1294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Forward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50DD77-5D9D-F545-0A20-EFE823B5E506}"/>
              </a:ext>
            </a:extLst>
          </p:cNvPr>
          <p:cNvSpPr txBox="1"/>
          <p:nvPr/>
        </p:nvSpPr>
        <p:spPr>
          <a:xfrm>
            <a:off x="7150054" y="4098529"/>
            <a:ext cx="1454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Backward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751629-FA67-1C38-0C26-A0A36B4B1577}"/>
              </a:ext>
            </a:extLst>
          </p:cNvPr>
          <p:cNvSpPr txBox="1"/>
          <p:nvPr/>
        </p:nvSpPr>
        <p:spPr>
          <a:xfrm>
            <a:off x="636590" y="4522208"/>
            <a:ext cx="397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4. Optimization Computation</a:t>
            </a:r>
            <a:endParaRPr lang="en-US" dirty="0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776DCCE7-8D46-0469-A7E1-2D3F839935CC}"/>
              </a:ext>
            </a:extLst>
          </p:cNvPr>
          <p:cNvSpPr/>
          <p:nvPr/>
        </p:nvSpPr>
        <p:spPr>
          <a:xfrm>
            <a:off x="742105" y="4791738"/>
            <a:ext cx="7442626" cy="36319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rved Left Arrow 62">
            <a:extLst>
              <a:ext uri="{FF2B5EF4-FFF2-40B4-BE49-F238E27FC236}">
                <a16:creationId xmlns:a16="http://schemas.microsoft.com/office/drawing/2014/main" id="{30620930-3E8F-DD0D-C3BD-EAFC5779D808}"/>
              </a:ext>
            </a:extLst>
          </p:cNvPr>
          <p:cNvSpPr/>
          <p:nvPr/>
        </p:nvSpPr>
        <p:spPr>
          <a:xfrm>
            <a:off x="9445891" y="3193837"/>
            <a:ext cx="519777" cy="1303283"/>
          </a:xfrm>
          <a:prstGeom prst="curved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666145-298C-AFEE-C0AB-729A8593811C}"/>
              </a:ext>
            </a:extLst>
          </p:cNvPr>
          <p:cNvSpPr txBox="1"/>
          <p:nvPr/>
        </p:nvSpPr>
        <p:spPr>
          <a:xfrm>
            <a:off x="9964592" y="3502722"/>
            <a:ext cx="166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Loss </a:t>
            </a:r>
          </a:p>
          <a:p>
            <a:r>
              <a:rPr lang="en-AU" dirty="0"/>
              <a:t>Computation</a:t>
            </a:r>
            <a:endParaRPr lang="en-US" dirty="0"/>
          </a:p>
        </p:txBody>
      </p:sp>
      <p:sp>
        <p:nvSpPr>
          <p:cNvPr id="67" name="Title 5">
            <a:extLst>
              <a:ext uri="{FF2B5EF4-FFF2-40B4-BE49-F238E27FC236}">
                <a16:creationId xmlns:a16="http://schemas.microsoft.com/office/drawing/2014/main" id="{C1F638A7-928C-0C5B-8A17-21097AE922EF}"/>
              </a:ext>
            </a:extLst>
          </p:cNvPr>
          <p:cNvSpPr txBox="1">
            <a:spLocks/>
          </p:cNvSpPr>
          <p:nvPr/>
        </p:nvSpPr>
        <p:spPr>
          <a:xfrm>
            <a:off x="373089" y="283003"/>
            <a:ext cx="11156302" cy="6520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l"/>
            <a:r>
              <a:rPr lang="en-AU" altLang="zh-CN" sz="2400" dirty="0">
                <a:solidFill>
                  <a:srgbClr val="1F1F1F"/>
                </a:solidFill>
              </a:rPr>
              <a:t>5.1 </a:t>
            </a:r>
            <a:r>
              <a:rPr lang="en-US" altLang="zh-CN" sz="2400" dirty="0">
                <a:solidFill>
                  <a:srgbClr val="1F1F1F"/>
                </a:solidFill>
              </a:rPr>
              <a:t>DURING</a:t>
            </a:r>
            <a:r>
              <a:rPr lang="en-AU" altLang="zh-CN" sz="2400" dirty="0">
                <a:solidFill>
                  <a:srgbClr val="1F1F1F"/>
                </a:solidFill>
              </a:rPr>
              <a:t> ONE BATCH TRAINING</a:t>
            </a:r>
            <a:endParaRPr lang="en-US" sz="2400" dirty="0"/>
          </a:p>
        </p:txBody>
      </p:sp>
      <p:sp>
        <p:nvSpPr>
          <p:cNvPr id="70" name="U-turn Arrow 69">
            <a:extLst>
              <a:ext uri="{FF2B5EF4-FFF2-40B4-BE49-F238E27FC236}">
                <a16:creationId xmlns:a16="http://schemas.microsoft.com/office/drawing/2014/main" id="{3D48FBEF-D7C4-D2D8-4E2F-C9695ECBFAC0}"/>
              </a:ext>
            </a:extLst>
          </p:cNvPr>
          <p:cNvSpPr/>
          <p:nvPr/>
        </p:nvSpPr>
        <p:spPr>
          <a:xfrm rot="16200000">
            <a:off x="3750" y="5043041"/>
            <a:ext cx="830247" cy="409903"/>
          </a:xfrm>
          <a:prstGeom prst="utur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127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ooter Placeholder 150">
            <a:extLst>
              <a:ext uri="{FF2B5EF4-FFF2-40B4-BE49-F238E27FC236}">
                <a16:creationId xmlns:a16="http://schemas.microsoft.com/office/drawing/2014/main" id="{403B5C57-609F-2909-BE5E-3352E6AC4971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152" name="Slide Number Placeholder 151">
            <a:extLst>
              <a:ext uri="{FF2B5EF4-FFF2-40B4-BE49-F238E27FC236}">
                <a16:creationId xmlns:a16="http://schemas.microsoft.com/office/drawing/2014/main" id="{1C1F8493-B963-CDFF-50B9-BC053FA825A8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5316A3B-78C1-26C2-FCCF-5B07D4AE943F}"/>
              </a:ext>
            </a:extLst>
          </p:cNvPr>
          <p:cNvSpPr/>
          <p:nvPr/>
        </p:nvSpPr>
        <p:spPr>
          <a:xfrm>
            <a:off x="9423709" y="1373582"/>
            <a:ext cx="1358905" cy="3569069"/>
          </a:xfrm>
          <a:prstGeom prst="roundRect">
            <a:avLst>
              <a:gd name="adj" fmla="val 251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0DC58D-61E4-28A4-D802-3C6AFAEF0FE4}"/>
              </a:ext>
            </a:extLst>
          </p:cNvPr>
          <p:cNvSpPr txBox="1"/>
          <p:nvPr/>
        </p:nvSpPr>
        <p:spPr>
          <a:xfrm>
            <a:off x="9278922" y="1275412"/>
            <a:ext cx="186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CNN Container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E3E8600-5607-C9CA-94E6-8BBA33312136}"/>
              </a:ext>
            </a:extLst>
          </p:cNvPr>
          <p:cNvSpPr/>
          <p:nvPr/>
        </p:nvSpPr>
        <p:spPr>
          <a:xfrm>
            <a:off x="9526473" y="5027516"/>
            <a:ext cx="1791013" cy="3754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        Optimizer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3BFA778-37F7-2157-9A64-39B3BC79FECC}"/>
              </a:ext>
            </a:extLst>
          </p:cNvPr>
          <p:cNvSpPr/>
          <p:nvPr/>
        </p:nvSpPr>
        <p:spPr>
          <a:xfrm>
            <a:off x="10811689" y="1373582"/>
            <a:ext cx="505798" cy="356907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071F931-2DDC-3564-1E87-D06F2E392746}"/>
              </a:ext>
            </a:extLst>
          </p:cNvPr>
          <p:cNvSpPr/>
          <p:nvPr/>
        </p:nvSpPr>
        <p:spPr>
          <a:xfrm>
            <a:off x="517896" y="790977"/>
            <a:ext cx="10803374" cy="3144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ABC7756-7579-B375-0BB6-505237AC8B90}"/>
              </a:ext>
            </a:extLst>
          </p:cNvPr>
          <p:cNvSpPr/>
          <p:nvPr/>
        </p:nvSpPr>
        <p:spPr>
          <a:xfrm>
            <a:off x="493692" y="1192436"/>
            <a:ext cx="8671638" cy="4246122"/>
          </a:xfrm>
          <a:prstGeom prst="roundRect">
            <a:avLst>
              <a:gd name="adj" fmla="val 284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2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levels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of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loops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of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Training</a:t>
            </a:r>
            <a:r>
              <a:rPr lang="en-US" altLang="zh-CN" sz="1100" b="1" dirty="0">
                <a:solidFill>
                  <a:schemeClr val="tx1"/>
                </a:solidFill>
              </a:rPr>
              <a:t>)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–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A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complete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training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training</a:t>
            </a:r>
            <a:r>
              <a:rPr lang="zh-CN" altLang="en-US" sz="1100" b="1" dirty="0">
                <a:solidFill>
                  <a:schemeClr val="tx1"/>
                </a:solidFill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</a:rPr>
              <a:t>cycle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EA3A3CD-84AC-93A2-8C55-2649669B6AA2}"/>
              </a:ext>
            </a:extLst>
          </p:cNvPr>
          <p:cNvSpPr/>
          <p:nvPr/>
        </p:nvSpPr>
        <p:spPr>
          <a:xfrm>
            <a:off x="598400" y="1518797"/>
            <a:ext cx="3668800" cy="3677749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Epoch-Level (Ep1)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C8D3FBBD-D87D-3831-1929-81E70F0B35E8}"/>
              </a:ext>
            </a:extLst>
          </p:cNvPr>
          <p:cNvSpPr/>
          <p:nvPr/>
        </p:nvSpPr>
        <p:spPr>
          <a:xfrm>
            <a:off x="506326" y="5759547"/>
            <a:ext cx="10811161" cy="880584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D0EEAF2C-E1B0-60C2-923D-309CBBD66A79}"/>
              </a:ext>
            </a:extLst>
          </p:cNvPr>
          <p:cNvSpPr/>
          <p:nvPr/>
        </p:nvSpPr>
        <p:spPr>
          <a:xfrm>
            <a:off x="851828" y="1902427"/>
            <a:ext cx="1185654" cy="3132577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Batch-Level 1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11EF6EA-535E-D4D8-FD7A-BD1F3B90660A}"/>
              </a:ext>
            </a:extLst>
          </p:cNvPr>
          <p:cNvSpPr/>
          <p:nvPr/>
        </p:nvSpPr>
        <p:spPr>
          <a:xfrm>
            <a:off x="935537" y="234891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4168C898-1308-8408-D362-AD64148EA4C6}"/>
              </a:ext>
            </a:extLst>
          </p:cNvPr>
          <p:cNvSpPr/>
          <p:nvPr/>
        </p:nvSpPr>
        <p:spPr>
          <a:xfrm>
            <a:off x="935537" y="302589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 Fun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F19AC10-1739-70DA-9ADB-BBF18CC375AF}"/>
              </a:ext>
            </a:extLst>
          </p:cNvPr>
          <p:cNvSpPr/>
          <p:nvPr/>
        </p:nvSpPr>
        <p:spPr>
          <a:xfrm>
            <a:off x="935537" y="436370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6E6EC87-5987-E26D-CF63-2B20E4A9B557}"/>
              </a:ext>
            </a:extLst>
          </p:cNvPr>
          <p:cNvSpPr/>
          <p:nvPr/>
        </p:nvSpPr>
        <p:spPr>
          <a:xfrm>
            <a:off x="935537" y="368672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Backward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ECCCB3F8-EE3D-D78E-3C10-FE456875CF3E}"/>
              </a:ext>
            </a:extLst>
          </p:cNvPr>
          <p:cNvSpPr/>
          <p:nvPr/>
        </p:nvSpPr>
        <p:spPr>
          <a:xfrm>
            <a:off x="935537" y="5848527"/>
            <a:ext cx="1018237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 losses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A747A747-F6AE-8FBE-7F05-99A5BB6603AA}"/>
              </a:ext>
            </a:extLst>
          </p:cNvPr>
          <p:cNvSpPr/>
          <p:nvPr/>
        </p:nvSpPr>
        <p:spPr>
          <a:xfrm>
            <a:off x="2305741" y="5848527"/>
            <a:ext cx="1018237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losses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C50ADD19-6B37-3242-C7EB-91FB967A53D2}"/>
              </a:ext>
            </a:extLst>
          </p:cNvPr>
          <p:cNvSpPr/>
          <p:nvPr/>
        </p:nvSpPr>
        <p:spPr>
          <a:xfrm>
            <a:off x="3675945" y="5848527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 accuracy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6C1A3E6E-BB01-6988-E8CA-79DAEB6ED76C}"/>
              </a:ext>
            </a:extLst>
          </p:cNvPr>
          <p:cNvSpPr/>
          <p:nvPr/>
        </p:nvSpPr>
        <p:spPr>
          <a:xfrm>
            <a:off x="5130723" y="5848527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accuracy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D751047-530B-5893-5681-D77FF10F9B4D}"/>
              </a:ext>
            </a:extLst>
          </p:cNvPr>
          <p:cNvSpPr/>
          <p:nvPr/>
        </p:nvSpPr>
        <p:spPr>
          <a:xfrm>
            <a:off x="6637042" y="5848527"/>
            <a:ext cx="1251243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Best epoch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65C49A40-D6C6-468D-8E0A-0A89C61F5D28}"/>
              </a:ext>
            </a:extLst>
          </p:cNvPr>
          <p:cNvSpPr/>
          <p:nvPr/>
        </p:nvSpPr>
        <p:spPr>
          <a:xfrm>
            <a:off x="8061591" y="5848527"/>
            <a:ext cx="2966022" cy="295990"/>
          </a:xfrm>
          <a:prstGeom prst="roundRect">
            <a:avLst>
              <a:gd name="adj" fmla="val 6904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Best Model (Hypothesis / Parameters)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72F9AF1-BA4D-3E46-DE07-E0E2E3DEE4CC}"/>
              </a:ext>
            </a:extLst>
          </p:cNvPr>
          <p:cNvSpPr/>
          <p:nvPr/>
        </p:nvSpPr>
        <p:spPr>
          <a:xfrm>
            <a:off x="935537" y="6268131"/>
            <a:ext cx="10092075" cy="27383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Visualization of Training (loss curves / accuracy curve) </a:t>
            </a:r>
          </a:p>
        </p:txBody>
      </p:sp>
      <p:sp>
        <p:nvSpPr>
          <p:cNvPr id="92" name="Down Arrow 91">
            <a:extLst>
              <a:ext uri="{FF2B5EF4-FFF2-40B4-BE49-F238E27FC236}">
                <a16:creationId xmlns:a16="http://schemas.microsoft.com/office/drawing/2014/main" id="{E5A4302A-98DB-9171-97C3-32EE566E4B8F}"/>
              </a:ext>
            </a:extLst>
          </p:cNvPr>
          <p:cNvSpPr/>
          <p:nvPr/>
        </p:nvSpPr>
        <p:spPr>
          <a:xfrm flipH="1">
            <a:off x="1979272" y="996406"/>
            <a:ext cx="952462" cy="279006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DE74E0C8-D619-DE19-7CCB-0B3BF66EF3EB}"/>
              </a:ext>
            </a:extLst>
          </p:cNvPr>
          <p:cNvSpPr/>
          <p:nvPr/>
        </p:nvSpPr>
        <p:spPr>
          <a:xfrm>
            <a:off x="9214826" y="1164174"/>
            <a:ext cx="2102659" cy="4252512"/>
          </a:xfrm>
          <a:prstGeom prst="roundRect">
            <a:avLst>
              <a:gd name="adj" fmla="val 251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</a:rPr>
              <a:t>Container / Loss /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C3A2BE87-49B3-C270-92CB-08E34EE8BA2C}"/>
              </a:ext>
            </a:extLst>
          </p:cNvPr>
          <p:cNvSpPr/>
          <p:nvPr/>
        </p:nvSpPr>
        <p:spPr>
          <a:xfrm>
            <a:off x="2916838" y="1921679"/>
            <a:ext cx="1185654" cy="3132577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Batch-Level 2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6D1F2B1C-1EFB-97CD-3147-39965224E74E}"/>
              </a:ext>
            </a:extLst>
          </p:cNvPr>
          <p:cNvSpPr/>
          <p:nvPr/>
        </p:nvSpPr>
        <p:spPr>
          <a:xfrm>
            <a:off x="5297221" y="1518797"/>
            <a:ext cx="3821531" cy="3677749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Epoch-Level (Ep 2)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7D145664-E30E-7A80-D6B9-080260D34E5A}"/>
              </a:ext>
            </a:extLst>
          </p:cNvPr>
          <p:cNvSpPr/>
          <p:nvPr/>
        </p:nvSpPr>
        <p:spPr>
          <a:xfrm>
            <a:off x="5597115" y="1921679"/>
            <a:ext cx="1185654" cy="3132577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Batch-Level 1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5682C0D-591A-F56D-9C56-4799C7935F9B}"/>
              </a:ext>
            </a:extLst>
          </p:cNvPr>
          <p:cNvSpPr/>
          <p:nvPr/>
        </p:nvSpPr>
        <p:spPr>
          <a:xfrm>
            <a:off x="7665110" y="1921679"/>
            <a:ext cx="1185654" cy="3132577"/>
          </a:xfrm>
          <a:prstGeom prst="roundRect">
            <a:avLst>
              <a:gd name="adj" fmla="val 690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Batch-Level 2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B396D3EE-6E94-F690-D07A-DF4AF5010154}"/>
              </a:ext>
            </a:extLst>
          </p:cNvPr>
          <p:cNvSpPr/>
          <p:nvPr/>
        </p:nvSpPr>
        <p:spPr>
          <a:xfrm>
            <a:off x="9605435" y="2368982"/>
            <a:ext cx="1526495" cy="357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1. Forward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740263E0-D277-01DE-1A1D-72A1BE7DF091}"/>
              </a:ext>
            </a:extLst>
          </p:cNvPr>
          <p:cNvSpPr/>
          <p:nvPr/>
        </p:nvSpPr>
        <p:spPr>
          <a:xfrm>
            <a:off x="9605435" y="2871845"/>
            <a:ext cx="1526495" cy="637203"/>
          </a:xfrm>
          <a:prstGeom prst="roundRect">
            <a:avLst>
              <a:gd name="adj" fmla="val 56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2. Loss computation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30E70411-B140-CF62-FEA9-6F59D6752B9D}"/>
              </a:ext>
            </a:extLst>
          </p:cNvPr>
          <p:cNvSpPr/>
          <p:nvPr/>
        </p:nvSpPr>
        <p:spPr>
          <a:xfrm>
            <a:off x="9576846" y="3687274"/>
            <a:ext cx="1526495" cy="357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3. Backward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FFE6FBAA-A258-A187-E4E8-C87FB6610CB0}"/>
              </a:ext>
            </a:extLst>
          </p:cNvPr>
          <p:cNvSpPr/>
          <p:nvPr/>
        </p:nvSpPr>
        <p:spPr>
          <a:xfrm>
            <a:off x="9605435" y="4352997"/>
            <a:ext cx="1526495" cy="357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4. Optimization</a:t>
            </a:r>
          </a:p>
        </p:txBody>
      </p:sp>
      <p:sp>
        <p:nvSpPr>
          <p:cNvPr id="156" name="Right Arrow 155">
            <a:extLst>
              <a:ext uri="{FF2B5EF4-FFF2-40B4-BE49-F238E27FC236}">
                <a16:creationId xmlns:a16="http://schemas.microsoft.com/office/drawing/2014/main" id="{ECFC4E51-E170-57A4-C72A-13134FC39431}"/>
              </a:ext>
            </a:extLst>
          </p:cNvPr>
          <p:cNvSpPr/>
          <p:nvPr/>
        </p:nvSpPr>
        <p:spPr>
          <a:xfrm>
            <a:off x="8849083" y="3752554"/>
            <a:ext cx="745552" cy="19166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81678DE9-2BA4-7990-5464-FD3DA8AECC02}"/>
              </a:ext>
            </a:extLst>
          </p:cNvPr>
          <p:cNvSpPr/>
          <p:nvPr/>
        </p:nvSpPr>
        <p:spPr>
          <a:xfrm>
            <a:off x="3013839" y="237966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31F075C7-6247-3442-B538-41DFAD70456F}"/>
              </a:ext>
            </a:extLst>
          </p:cNvPr>
          <p:cNvSpPr/>
          <p:nvPr/>
        </p:nvSpPr>
        <p:spPr>
          <a:xfrm>
            <a:off x="3013839" y="305664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 Fun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981F2900-7C33-9E12-1A77-E56FBB938C6D}"/>
              </a:ext>
            </a:extLst>
          </p:cNvPr>
          <p:cNvSpPr/>
          <p:nvPr/>
        </p:nvSpPr>
        <p:spPr>
          <a:xfrm>
            <a:off x="3013839" y="439445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C087C37F-BBE5-F05B-DB2A-87915A1543F7}"/>
              </a:ext>
            </a:extLst>
          </p:cNvPr>
          <p:cNvSpPr/>
          <p:nvPr/>
        </p:nvSpPr>
        <p:spPr>
          <a:xfrm>
            <a:off x="3013839" y="371747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Backward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E5D99514-8BDA-2DA0-E9F1-0EB0B01EC333}"/>
              </a:ext>
            </a:extLst>
          </p:cNvPr>
          <p:cNvSpPr/>
          <p:nvPr/>
        </p:nvSpPr>
        <p:spPr>
          <a:xfrm>
            <a:off x="5693035" y="237966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9026E76E-3C9B-475A-A7CD-DFB438EE2E1D}"/>
              </a:ext>
            </a:extLst>
          </p:cNvPr>
          <p:cNvSpPr/>
          <p:nvPr/>
        </p:nvSpPr>
        <p:spPr>
          <a:xfrm>
            <a:off x="5693035" y="305664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 Fun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14B809EB-0930-083E-7BDE-A9A2DD154392}"/>
              </a:ext>
            </a:extLst>
          </p:cNvPr>
          <p:cNvSpPr/>
          <p:nvPr/>
        </p:nvSpPr>
        <p:spPr>
          <a:xfrm>
            <a:off x="5693035" y="439445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AAA3BD5-A83D-F6AE-FF43-28DDA0C8D32C}"/>
              </a:ext>
            </a:extLst>
          </p:cNvPr>
          <p:cNvSpPr/>
          <p:nvPr/>
        </p:nvSpPr>
        <p:spPr>
          <a:xfrm>
            <a:off x="5693035" y="371747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Backward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5716450-057E-8DF2-C6A9-9D65667C0F5F}"/>
              </a:ext>
            </a:extLst>
          </p:cNvPr>
          <p:cNvSpPr/>
          <p:nvPr/>
        </p:nvSpPr>
        <p:spPr>
          <a:xfrm>
            <a:off x="7748551" y="237966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5D6F5748-3EE0-21B0-492A-871E55DD16FA}"/>
              </a:ext>
            </a:extLst>
          </p:cNvPr>
          <p:cNvSpPr/>
          <p:nvPr/>
        </p:nvSpPr>
        <p:spPr>
          <a:xfrm>
            <a:off x="7748551" y="305664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 Fun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CCFE74AC-FFB9-2046-DFAF-E95CFF110E5E}"/>
              </a:ext>
            </a:extLst>
          </p:cNvPr>
          <p:cNvSpPr/>
          <p:nvPr/>
        </p:nvSpPr>
        <p:spPr>
          <a:xfrm>
            <a:off x="7748551" y="4394457"/>
            <a:ext cx="1018237" cy="289600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C0ED5AAC-91C4-0542-2FE7-9F974395CD3F}"/>
              </a:ext>
            </a:extLst>
          </p:cNvPr>
          <p:cNvSpPr/>
          <p:nvPr/>
        </p:nvSpPr>
        <p:spPr>
          <a:xfrm>
            <a:off x="7748551" y="3717474"/>
            <a:ext cx="1018237" cy="305756"/>
          </a:xfrm>
          <a:prstGeom prst="roundRect">
            <a:avLst>
              <a:gd name="adj" fmla="val 69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Backward</a:t>
            </a:r>
          </a:p>
        </p:txBody>
      </p:sp>
      <p:sp>
        <p:nvSpPr>
          <p:cNvPr id="178" name="Right Arrow 177">
            <a:extLst>
              <a:ext uri="{FF2B5EF4-FFF2-40B4-BE49-F238E27FC236}">
                <a16:creationId xmlns:a16="http://schemas.microsoft.com/office/drawing/2014/main" id="{D2549D93-D25F-753D-0CB6-0C1230B189A3}"/>
              </a:ext>
            </a:extLst>
          </p:cNvPr>
          <p:cNvSpPr/>
          <p:nvPr/>
        </p:nvSpPr>
        <p:spPr>
          <a:xfrm>
            <a:off x="8894930" y="4409588"/>
            <a:ext cx="745552" cy="19166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82AC954F-9C7E-03F0-FED1-964C10AF375B}"/>
              </a:ext>
            </a:extLst>
          </p:cNvPr>
          <p:cNvSpPr/>
          <p:nvPr/>
        </p:nvSpPr>
        <p:spPr>
          <a:xfrm>
            <a:off x="8880254" y="3082934"/>
            <a:ext cx="745552" cy="19166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ight Arrow 179">
            <a:extLst>
              <a:ext uri="{FF2B5EF4-FFF2-40B4-BE49-F238E27FC236}">
                <a16:creationId xmlns:a16="http://schemas.microsoft.com/office/drawing/2014/main" id="{CA6D9B0F-E577-AFFA-4AC5-6602CACC0A02}"/>
              </a:ext>
            </a:extLst>
          </p:cNvPr>
          <p:cNvSpPr/>
          <p:nvPr/>
        </p:nvSpPr>
        <p:spPr>
          <a:xfrm>
            <a:off x="8880254" y="2420610"/>
            <a:ext cx="745552" cy="19166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Curved Left Arrow 181">
            <a:extLst>
              <a:ext uri="{FF2B5EF4-FFF2-40B4-BE49-F238E27FC236}">
                <a16:creationId xmlns:a16="http://schemas.microsoft.com/office/drawing/2014/main" id="{A9F18EF0-B173-4A51-1A38-6D9FBDADEB99}"/>
              </a:ext>
            </a:extLst>
          </p:cNvPr>
          <p:cNvSpPr/>
          <p:nvPr/>
        </p:nvSpPr>
        <p:spPr>
          <a:xfrm>
            <a:off x="7273234" y="2972651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3" name="Curved Left Arrow 182">
            <a:extLst>
              <a:ext uri="{FF2B5EF4-FFF2-40B4-BE49-F238E27FC236}">
                <a16:creationId xmlns:a16="http://schemas.microsoft.com/office/drawing/2014/main" id="{BE47F9D0-B491-DD88-B98A-11E8D37DB636}"/>
              </a:ext>
            </a:extLst>
          </p:cNvPr>
          <p:cNvSpPr/>
          <p:nvPr/>
        </p:nvSpPr>
        <p:spPr>
          <a:xfrm rot="10800000">
            <a:off x="6859871" y="2942956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4" name="Curved Left Arrow 183">
            <a:extLst>
              <a:ext uri="{FF2B5EF4-FFF2-40B4-BE49-F238E27FC236}">
                <a16:creationId xmlns:a16="http://schemas.microsoft.com/office/drawing/2014/main" id="{747C7A8C-3C65-3DB0-3729-615C7EE95CCB}"/>
              </a:ext>
            </a:extLst>
          </p:cNvPr>
          <p:cNvSpPr/>
          <p:nvPr/>
        </p:nvSpPr>
        <p:spPr>
          <a:xfrm>
            <a:off x="2493373" y="2942956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5" name="Curved Left Arrow 184">
            <a:extLst>
              <a:ext uri="{FF2B5EF4-FFF2-40B4-BE49-F238E27FC236}">
                <a16:creationId xmlns:a16="http://schemas.microsoft.com/office/drawing/2014/main" id="{9392DB89-08A8-5887-7318-8C5879377602}"/>
              </a:ext>
            </a:extLst>
          </p:cNvPr>
          <p:cNvSpPr/>
          <p:nvPr/>
        </p:nvSpPr>
        <p:spPr>
          <a:xfrm rot="10800000">
            <a:off x="2080010" y="2913261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680A0982-ACB6-5451-F1F0-64537E96EB04}"/>
              </a:ext>
            </a:extLst>
          </p:cNvPr>
          <p:cNvSpPr/>
          <p:nvPr/>
        </p:nvSpPr>
        <p:spPr>
          <a:xfrm>
            <a:off x="7009998" y="3130967"/>
            <a:ext cx="450623" cy="4305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90" name="Curved Left Arrow 189">
            <a:extLst>
              <a:ext uri="{FF2B5EF4-FFF2-40B4-BE49-F238E27FC236}">
                <a16:creationId xmlns:a16="http://schemas.microsoft.com/office/drawing/2014/main" id="{4876C08D-38C5-AB22-E2FE-3F8B64382AAD}"/>
              </a:ext>
            </a:extLst>
          </p:cNvPr>
          <p:cNvSpPr/>
          <p:nvPr/>
        </p:nvSpPr>
        <p:spPr>
          <a:xfrm>
            <a:off x="4787392" y="2964571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1" name="Curved Left Arrow 190">
            <a:extLst>
              <a:ext uri="{FF2B5EF4-FFF2-40B4-BE49-F238E27FC236}">
                <a16:creationId xmlns:a16="http://schemas.microsoft.com/office/drawing/2014/main" id="{A210A62D-F084-F5DA-4622-20FA8D9F9EA4}"/>
              </a:ext>
            </a:extLst>
          </p:cNvPr>
          <p:cNvSpPr/>
          <p:nvPr/>
        </p:nvSpPr>
        <p:spPr>
          <a:xfrm rot="10800000">
            <a:off x="4374029" y="2934876"/>
            <a:ext cx="346364" cy="814879"/>
          </a:xfrm>
          <a:prstGeom prst="curvedLeftArrow">
            <a:avLst>
              <a:gd name="adj1" fmla="val 25000"/>
              <a:gd name="adj2" fmla="val 45968"/>
              <a:gd name="adj3" fmla="val 2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F04A249-D7DD-67A1-F1E1-FE2E34B343FB}"/>
              </a:ext>
            </a:extLst>
          </p:cNvPr>
          <p:cNvSpPr/>
          <p:nvPr/>
        </p:nvSpPr>
        <p:spPr>
          <a:xfrm>
            <a:off x="4516176" y="3130967"/>
            <a:ext cx="450623" cy="4305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98" name="Title 5">
            <a:extLst>
              <a:ext uri="{FF2B5EF4-FFF2-40B4-BE49-F238E27FC236}">
                <a16:creationId xmlns:a16="http://schemas.microsoft.com/office/drawing/2014/main" id="{0E197715-818A-6AA8-5D28-2C9EEE16A980}"/>
              </a:ext>
            </a:extLst>
          </p:cNvPr>
          <p:cNvSpPr txBox="1">
            <a:spLocks/>
          </p:cNvSpPr>
          <p:nvPr/>
        </p:nvSpPr>
        <p:spPr>
          <a:xfrm>
            <a:off x="373089" y="283003"/>
            <a:ext cx="11156302" cy="6520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l"/>
            <a:r>
              <a:rPr lang="en-AU" altLang="zh-CN" sz="2400" dirty="0">
                <a:solidFill>
                  <a:srgbClr val="1F1F1F"/>
                </a:solidFill>
              </a:rPr>
              <a:t>5.2 EPOCH-LEVEL TRAINING LOOP</a:t>
            </a:r>
            <a:r>
              <a:rPr lang="en-US" sz="2400" dirty="0"/>
              <a:t> 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EB47D3A-6BD6-B7D5-0849-78A520468222}"/>
              </a:ext>
            </a:extLst>
          </p:cNvPr>
          <p:cNvSpPr/>
          <p:nvPr/>
        </p:nvSpPr>
        <p:spPr>
          <a:xfrm flipH="1">
            <a:off x="2607634" y="5467181"/>
            <a:ext cx="406205" cy="279006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951616A-A40B-0563-F790-1980F818E46F}"/>
              </a:ext>
            </a:extLst>
          </p:cNvPr>
          <p:cNvSpPr/>
          <p:nvPr/>
        </p:nvSpPr>
        <p:spPr>
          <a:xfrm rot="10800000" flipH="1">
            <a:off x="6117080" y="5438558"/>
            <a:ext cx="406205" cy="279006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BDFBA3-5795-07C6-63FC-065F1CC47377}"/>
              </a:ext>
            </a:extLst>
          </p:cNvPr>
          <p:cNvSpPr/>
          <p:nvPr/>
        </p:nvSpPr>
        <p:spPr>
          <a:xfrm>
            <a:off x="3166826" y="5481377"/>
            <a:ext cx="2908096" cy="247618"/>
          </a:xfrm>
          <a:prstGeom prst="roundRect">
            <a:avLst>
              <a:gd name="adj" fmla="val 69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Outer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experimental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loop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(manually)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997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EEA1-DE09-31B5-085B-A6672DD7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C9D61AAB-6989-ABB8-6763-224D145461D2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F9BB33D1-A829-28E4-A936-F3C94EF443F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7" name="Title 5">
            <a:extLst>
              <a:ext uri="{FF2B5EF4-FFF2-40B4-BE49-F238E27FC236}">
                <a16:creationId xmlns:a16="http://schemas.microsoft.com/office/drawing/2014/main" id="{BE8C93BF-0FB2-C016-0094-E1C686EE490E}"/>
              </a:ext>
            </a:extLst>
          </p:cNvPr>
          <p:cNvSpPr txBox="1">
            <a:spLocks/>
          </p:cNvSpPr>
          <p:nvPr/>
        </p:nvSpPr>
        <p:spPr>
          <a:xfrm>
            <a:off x="373089" y="283003"/>
            <a:ext cx="11156302" cy="6520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l"/>
            <a:r>
              <a:rPr lang="en-AU" altLang="zh-CN" sz="2400" dirty="0">
                <a:solidFill>
                  <a:srgbClr val="1F1F1F"/>
                </a:solidFill>
              </a:rPr>
              <a:t>5.3 </a:t>
            </a:r>
            <a:r>
              <a:rPr lang="en-AU" sz="2400" dirty="0"/>
              <a:t>Validation &amp; Early Stopping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D8FAA-242B-4D78-F2B0-522B33F38FF2}"/>
              </a:ext>
            </a:extLst>
          </p:cNvPr>
          <p:cNvSpPr txBox="1"/>
          <p:nvPr/>
        </p:nvSpPr>
        <p:spPr>
          <a:xfrm>
            <a:off x="640080" y="1114211"/>
            <a:ext cx="10186416" cy="2013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Performed </a:t>
            </a:r>
            <a:r>
              <a:rPr lang="en-AU" b="1" dirty="0"/>
              <a:t>after each epoch</a:t>
            </a:r>
            <a:r>
              <a:rPr lang="en-AU" dirty="0"/>
              <a:t> to check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Uses the </a:t>
            </a:r>
            <a:r>
              <a:rPr lang="en-AU" b="1" dirty="0"/>
              <a:t>validation dataset</a:t>
            </a:r>
            <a:r>
              <a:rPr lang="en-AU" dirty="0"/>
              <a:t> (not used in training).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No parameter updates</a:t>
            </a:r>
            <a:r>
              <a:rPr lang="en-AU" dirty="0"/>
              <a:t> — only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Validation Loss</a:t>
            </a:r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Validation Accuracy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5EABD-C7F0-FB30-324A-3A67FDC44CCE}"/>
              </a:ext>
            </a:extLst>
          </p:cNvPr>
          <p:cNvSpPr txBox="1"/>
          <p:nvPr/>
        </p:nvSpPr>
        <p:spPr>
          <a:xfrm>
            <a:off x="640080" y="3849624"/>
            <a:ext cx="9948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Early Stopping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Prevents </a:t>
            </a:r>
            <a:r>
              <a:rPr lang="en-AU" b="1" dirty="0"/>
              <a:t>overfitting</a:t>
            </a:r>
            <a:r>
              <a:rPr lang="en-A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Stop training if </a:t>
            </a:r>
            <a:r>
              <a:rPr lang="en-AU" b="1" dirty="0"/>
              <a:t>validation loss</a:t>
            </a:r>
            <a:r>
              <a:rPr lang="en-AU" dirty="0"/>
              <a:t> doesn’t improve for several epochs (called </a:t>
            </a:r>
            <a:r>
              <a:rPr lang="en-AU" b="1" dirty="0"/>
              <a:t>patience</a:t>
            </a:r>
            <a:r>
              <a:rPr lang="en-AU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Keeps the </a:t>
            </a:r>
            <a:r>
              <a:rPr lang="en-AU" b="1" dirty="0"/>
              <a:t>best model</a:t>
            </a:r>
            <a:r>
              <a:rPr lang="en-AU" dirty="0"/>
              <a:t> before performance drops.</a:t>
            </a:r>
          </a:p>
        </p:txBody>
      </p:sp>
    </p:spTree>
    <p:extLst>
      <p:ext uri="{BB962C8B-B14F-4D97-AF65-F5344CB8AC3E}">
        <p14:creationId xmlns:p14="http://schemas.microsoft.com/office/powerpoint/2010/main" val="2482325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425569A-E878-ECEF-EC2D-3DDD98A6CCA6}"/>
              </a:ext>
            </a:extLst>
          </p:cNvPr>
          <p:cNvSpPr/>
          <p:nvPr/>
        </p:nvSpPr>
        <p:spPr>
          <a:xfrm>
            <a:off x="434180" y="1431509"/>
            <a:ext cx="7686563" cy="4584356"/>
          </a:xfrm>
          <a:prstGeom prst="roundRect">
            <a:avLst>
              <a:gd name="adj" fmla="val 8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4B4FB8-6256-4F44-F50B-954ED8BB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1FD97-ECA8-A83C-7727-187711310E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4785E178-2BDE-8D52-A2F9-580F22736A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F3B2AE-498C-E116-DFB9-5DC4CE75EF8E}"/>
              </a:ext>
            </a:extLst>
          </p:cNvPr>
          <p:cNvSpPr/>
          <p:nvPr/>
        </p:nvSpPr>
        <p:spPr>
          <a:xfrm>
            <a:off x="621225" y="2476235"/>
            <a:ext cx="4917309" cy="2390249"/>
          </a:xfrm>
          <a:prstGeom prst="roundRect">
            <a:avLst>
              <a:gd name="adj" fmla="val 242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321CC-8B74-97EE-39A8-96A07C3FF1C4}"/>
              </a:ext>
            </a:extLst>
          </p:cNvPr>
          <p:cNvSpPr txBox="1"/>
          <p:nvPr/>
        </p:nvSpPr>
        <p:spPr>
          <a:xfrm>
            <a:off x="1011458" y="3280065"/>
            <a:ext cx="447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CNN Training Framework (</a:t>
            </a:r>
            <a:r>
              <a:rPr lang="en-AU" sz="2000" b="1" dirty="0">
                <a:solidFill>
                  <a:srgbClr val="FF0000"/>
                </a:solidFill>
              </a:rPr>
              <a:t>Algorithm</a:t>
            </a:r>
            <a:r>
              <a:rPr lang="en-AU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58F422-F529-4EAE-E0A0-45EF2CEECEB2}"/>
              </a:ext>
            </a:extLst>
          </p:cNvPr>
          <p:cNvSpPr/>
          <p:nvPr/>
        </p:nvSpPr>
        <p:spPr>
          <a:xfrm>
            <a:off x="669679" y="1909305"/>
            <a:ext cx="4917310" cy="31917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 Loading and Preprocessing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CC35BEF-8F1A-3EF2-9D75-0D78965FC16D}"/>
              </a:ext>
            </a:extLst>
          </p:cNvPr>
          <p:cNvSpPr/>
          <p:nvPr/>
        </p:nvSpPr>
        <p:spPr>
          <a:xfrm>
            <a:off x="5711360" y="1900500"/>
            <a:ext cx="546552" cy="3554623"/>
          </a:xfrm>
          <a:prstGeom prst="roundRect">
            <a:avLst>
              <a:gd name="adj" fmla="val 19044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Prediction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(test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dataset)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755F226-2EA4-6485-06D8-F181D3B02DA8}"/>
              </a:ext>
            </a:extLst>
          </p:cNvPr>
          <p:cNvSpPr/>
          <p:nvPr/>
        </p:nvSpPr>
        <p:spPr>
          <a:xfrm>
            <a:off x="6433909" y="1900500"/>
            <a:ext cx="1498025" cy="3554623"/>
          </a:xfrm>
          <a:prstGeom prst="roundRect">
            <a:avLst>
              <a:gd name="adj" fmla="val 924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  Visualization</a:t>
            </a:r>
          </a:p>
        </p:txBody>
      </p:sp>
      <p:sp>
        <p:nvSpPr>
          <p:cNvPr id="47" name="Down Arrow 46">
            <a:extLst>
              <a:ext uri="{FF2B5EF4-FFF2-40B4-BE49-F238E27FC236}">
                <a16:creationId xmlns:a16="http://schemas.microsoft.com/office/drawing/2014/main" id="{F4F88A14-5F3E-9103-85FA-C74198B463E2}"/>
              </a:ext>
            </a:extLst>
          </p:cNvPr>
          <p:cNvSpPr/>
          <p:nvPr/>
        </p:nvSpPr>
        <p:spPr>
          <a:xfrm>
            <a:off x="1435809" y="2125807"/>
            <a:ext cx="359308" cy="652487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-turn Arrow 47">
            <a:extLst>
              <a:ext uri="{FF2B5EF4-FFF2-40B4-BE49-F238E27FC236}">
                <a16:creationId xmlns:a16="http://schemas.microsoft.com/office/drawing/2014/main" id="{61EFB8A1-B3EB-EBE7-AAE3-F7F554021889}"/>
              </a:ext>
            </a:extLst>
          </p:cNvPr>
          <p:cNvSpPr/>
          <p:nvPr/>
        </p:nvSpPr>
        <p:spPr>
          <a:xfrm flipV="1">
            <a:off x="4645926" y="5048347"/>
            <a:ext cx="1497298" cy="726915"/>
          </a:xfrm>
          <a:prstGeom prst="uturnArrow">
            <a:avLst>
              <a:gd name="adj1" fmla="val 14158"/>
              <a:gd name="adj2" fmla="val 25000"/>
              <a:gd name="adj3" fmla="val 16507"/>
              <a:gd name="adj4" fmla="val 50000"/>
              <a:gd name="adj5" fmla="val 75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E21A785-C61B-379D-3022-53CCB93CC688}"/>
              </a:ext>
            </a:extLst>
          </p:cNvPr>
          <p:cNvSpPr/>
          <p:nvPr/>
        </p:nvSpPr>
        <p:spPr>
          <a:xfrm>
            <a:off x="6530714" y="2567365"/>
            <a:ext cx="1238046" cy="606498"/>
          </a:xfrm>
          <a:prstGeom prst="roundRect">
            <a:avLst>
              <a:gd name="adj" fmla="val 1904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Confusion Matrix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38B17BF-19E6-C7AD-78D5-09F1B3256954}"/>
              </a:ext>
            </a:extLst>
          </p:cNvPr>
          <p:cNvSpPr/>
          <p:nvPr/>
        </p:nvSpPr>
        <p:spPr>
          <a:xfrm>
            <a:off x="6530714" y="3230774"/>
            <a:ext cx="1238046" cy="894073"/>
          </a:xfrm>
          <a:prstGeom prst="roundRect">
            <a:avLst>
              <a:gd name="adj" fmla="val 1904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Classification Report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0C1D6FC-055D-7802-73CC-21861E4DAEF3}"/>
              </a:ext>
            </a:extLst>
          </p:cNvPr>
          <p:cNvSpPr/>
          <p:nvPr/>
        </p:nvSpPr>
        <p:spPr>
          <a:xfrm>
            <a:off x="6529682" y="4202947"/>
            <a:ext cx="1227938" cy="902557"/>
          </a:xfrm>
          <a:prstGeom prst="roundRect">
            <a:avLst>
              <a:gd name="adj" fmla="val 1904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ROC Curves and AUC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6CE2A98-1862-6989-3596-BF0F62F8CF56}"/>
              </a:ext>
            </a:extLst>
          </p:cNvPr>
          <p:cNvSpPr/>
          <p:nvPr/>
        </p:nvSpPr>
        <p:spPr>
          <a:xfrm>
            <a:off x="3258996" y="1483999"/>
            <a:ext cx="1201128" cy="494234"/>
          </a:xfrm>
          <a:prstGeom prst="ellipse">
            <a:avLst/>
          </a:prstGeom>
          <a:solidFill>
            <a:schemeClr val="accent5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AD8081-AF77-80B1-4FB9-08FDB98303D7}"/>
              </a:ext>
            </a:extLst>
          </p:cNvPr>
          <p:cNvSpPr/>
          <p:nvPr/>
        </p:nvSpPr>
        <p:spPr>
          <a:xfrm>
            <a:off x="3472034" y="3886258"/>
            <a:ext cx="1828010" cy="626163"/>
          </a:xfrm>
          <a:prstGeom prst="ellipse">
            <a:avLst/>
          </a:prstGeom>
          <a:solidFill>
            <a:schemeClr val="accent5">
              <a:alpha val="9349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Criterion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7D412FB-EFFE-84A7-1DD6-51A0F33629D1}"/>
              </a:ext>
            </a:extLst>
          </p:cNvPr>
          <p:cNvSpPr/>
          <p:nvPr/>
        </p:nvSpPr>
        <p:spPr>
          <a:xfrm>
            <a:off x="642690" y="5018619"/>
            <a:ext cx="4917309" cy="445908"/>
          </a:xfrm>
          <a:prstGeom prst="roundRect">
            <a:avLst>
              <a:gd name="adj" fmla="val 242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Best Model</a:t>
            </a:r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2F90F91B-2C4F-E078-1ECC-3693BD5E331F}"/>
              </a:ext>
            </a:extLst>
          </p:cNvPr>
          <p:cNvSpPr/>
          <p:nvPr/>
        </p:nvSpPr>
        <p:spPr>
          <a:xfrm>
            <a:off x="1416030" y="4654226"/>
            <a:ext cx="359308" cy="552204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U-turn Arrow 57">
            <a:extLst>
              <a:ext uri="{FF2B5EF4-FFF2-40B4-BE49-F238E27FC236}">
                <a16:creationId xmlns:a16="http://schemas.microsoft.com/office/drawing/2014/main" id="{10F5697E-FDCA-45D7-FEB0-478EE25134BE}"/>
              </a:ext>
            </a:extLst>
          </p:cNvPr>
          <p:cNvSpPr/>
          <p:nvPr/>
        </p:nvSpPr>
        <p:spPr>
          <a:xfrm flipV="1">
            <a:off x="6143224" y="5297051"/>
            <a:ext cx="1227939" cy="499646"/>
          </a:xfrm>
          <a:prstGeom prst="uturnArrow">
            <a:avLst>
              <a:gd name="adj1" fmla="val 14158"/>
              <a:gd name="adj2" fmla="val 25000"/>
              <a:gd name="adj3" fmla="val 16507"/>
              <a:gd name="adj4" fmla="val 50000"/>
              <a:gd name="adj5" fmla="val 75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3126AF-FBFB-AC45-EE5E-A45CF59EFBC0}"/>
              </a:ext>
            </a:extLst>
          </p:cNvPr>
          <p:cNvSpPr txBox="1"/>
          <p:nvPr/>
        </p:nvSpPr>
        <p:spPr>
          <a:xfrm>
            <a:off x="8272104" y="1421995"/>
            <a:ext cx="3347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Part1:</a:t>
            </a:r>
            <a:r>
              <a:rPr lang="zh-CN" altLang="en-US" b="1" dirty="0"/>
              <a:t> </a:t>
            </a:r>
            <a:r>
              <a:rPr lang="en-US" altLang="zh-CN" b="1" dirty="0"/>
              <a:t>Data</a:t>
            </a:r>
            <a:r>
              <a:rPr lang="zh-CN" altLang="en-US" b="1" dirty="0"/>
              <a:t> </a:t>
            </a:r>
            <a:r>
              <a:rPr lang="en-US" altLang="zh-CN" b="1" dirty="0"/>
              <a:t>Preparation</a:t>
            </a:r>
          </a:p>
          <a:p>
            <a:endParaRPr lang="en-AU" b="1" dirty="0"/>
          </a:p>
          <a:p>
            <a:r>
              <a:rPr lang="en-US" altLang="zh-CN" b="1" dirty="0"/>
              <a:t>Part2:</a:t>
            </a:r>
            <a:r>
              <a:rPr lang="zh-CN" altLang="en-US" b="1" dirty="0"/>
              <a:t> </a:t>
            </a:r>
            <a:r>
              <a:rPr lang="en-US" altLang="zh-CN" b="1" dirty="0"/>
              <a:t>Pipeline</a:t>
            </a:r>
            <a:r>
              <a:rPr lang="zh-CN" altLang="en-US" b="1" dirty="0"/>
              <a:t> </a:t>
            </a:r>
            <a:r>
              <a:rPr lang="en-US" altLang="zh-CN" b="1" dirty="0"/>
              <a:t>Initialization</a:t>
            </a:r>
            <a:endParaRPr lang="en-AU" b="1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AU" dirty="0"/>
              <a:t>Model Building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AU" dirty="0"/>
              <a:t>Optimizer</a:t>
            </a:r>
            <a:r>
              <a:rPr lang="zh-CN" altLang="en-US" dirty="0"/>
              <a:t> </a:t>
            </a:r>
            <a:r>
              <a:rPr lang="en-US" altLang="zh-CN" dirty="0"/>
              <a:t>Initialization</a:t>
            </a:r>
            <a:endParaRPr lang="en-AU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AU" dirty="0"/>
              <a:t>Loss Function</a:t>
            </a:r>
            <a:r>
              <a:rPr lang="zh-CN" altLang="en-US" dirty="0"/>
              <a:t> </a:t>
            </a:r>
            <a:r>
              <a:rPr lang="en-US" altLang="zh-CN" dirty="0"/>
              <a:t>Initialization</a:t>
            </a:r>
          </a:p>
          <a:p>
            <a:endParaRPr lang="en-US" altLang="zh-CN" dirty="0"/>
          </a:p>
          <a:p>
            <a:r>
              <a:rPr lang="en-US" altLang="zh-CN" b="1" dirty="0"/>
              <a:t>Part3:</a:t>
            </a:r>
            <a:r>
              <a:rPr lang="zh-CN" altLang="en-US" b="1" dirty="0"/>
              <a:t> </a:t>
            </a:r>
            <a:r>
              <a:rPr lang="en-US" altLang="zh-CN" b="1" dirty="0"/>
              <a:t>Training</a:t>
            </a:r>
          </a:p>
          <a:p>
            <a:endParaRPr lang="en-AU" altLang="zh-CN" dirty="0"/>
          </a:p>
          <a:p>
            <a:r>
              <a:rPr lang="en-US" altLang="zh-CN" b="1" dirty="0"/>
              <a:t>Part4:</a:t>
            </a:r>
            <a:r>
              <a:rPr lang="zh-CN" altLang="en-US" b="1" dirty="0"/>
              <a:t> </a:t>
            </a:r>
            <a:r>
              <a:rPr lang="en-US" altLang="zh-CN" b="1" dirty="0"/>
              <a:t>Evaluation</a:t>
            </a:r>
            <a:endParaRPr lang="en-AU" b="1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AU" dirty="0"/>
              <a:t>Prediction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endParaRPr lang="en-AU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AU" dirty="0"/>
              <a:t>Confusion Matrix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AU" dirty="0"/>
              <a:t>Classification Report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AU" dirty="0"/>
              <a:t>ROC &amp; AUC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76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BFC0-7EFA-5C90-49EA-AA0CC54F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B4F78-F90E-12C4-7B81-1950F9265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128A6D34-6891-7853-EE7A-FC7322BB43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3116180-DF0B-C55B-2E89-FFCD9F3E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FD2C6-29A7-C472-F082-F6D812F9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80" y="1122241"/>
            <a:ext cx="6502520" cy="10853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C23AED-2AD2-AB5A-8C6E-41706C8F0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83" y="2325495"/>
            <a:ext cx="6538666" cy="2546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4E7D0-EC86-E8C3-5229-4DCFB9FC7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0" y="5300469"/>
            <a:ext cx="4504614" cy="669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2FC9E8-30CB-FD62-70C9-EB226C129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198" y="5462995"/>
            <a:ext cx="3802380" cy="8280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06B125-59B7-63AE-FA5D-6BF2F2031DA7}"/>
              </a:ext>
            </a:extLst>
          </p:cNvPr>
          <p:cNvSpPr txBox="1"/>
          <p:nvPr/>
        </p:nvSpPr>
        <p:spPr>
          <a:xfrm>
            <a:off x="8474884" y="1166435"/>
            <a:ext cx="2640466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Example 1</a:t>
            </a:r>
          </a:p>
          <a:p>
            <a:endParaRPr lang="en-US" b="1" dirty="0"/>
          </a:p>
          <a:p>
            <a:r>
              <a:rPr lang="en-US" sz="1600" dirty="0"/>
              <a:t>Input size: 2048/256/1000</a:t>
            </a:r>
          </a:p>
          <a:p>
            <a:endParaRPr lang="en-US" sz="1600" dirty="0"/>
          </a:p>
          <a:p>
            <a:r>
              <a:rPr lang="en-US" sz="1600" dirty="0"/>
              <a:t>Conv1 : </a:t>
            </a:r>
            <a:r>
              <a:rPr lang="en-US" sz="1600" dirty="0" err="1"/>
              <a:t>C_out</a:t>
            </a:r>
            <a:r>
              <a:rPr lang="en-US" sz="1600" dirty="0"/>
              <a:t> = 16</a:t>
            </a:r>
          </a:p>
          <a:p>
            <a:r>
              <a:rPr lang="en-US" sz="1600" dirty="0"/>
              <a:t>Conv2: </a:t>
            </a:r>
            <a:r>
              <a:rPr lang="en-US" sz="1600" dirty="0" err="1"/>
              <a:t>C_out</a:t>
            </a:r>
            <a:r>
              <a:rPr lang="en-US" sz="1600" dirty="0"/>
              <a:t> = 64</a:t>
            </a:r>
          </a:p>
          <a:p>
            <a:endParaRPr lang="en-US" sz="1600" dirty="0"/>
          </a:p>
          <a:p>
            <a:r>
              <a:rPr lang="en-US" sz="1600" dirty="0"/>
              <a:t>Dense1: </a:t>
            </a:r>
            <a:r>
              <a:rPr lang="en-US" sz="1600" dirty="0" err="1"/>
              <a:t>F_out</a:t>
            </a:r>
            <a:r>
              <a:rPr lang="en-US" sz="1600" dirty="0"/>
              <a:t> = 128</a:t>
            </a:r>
          </a:p>
          <a:p>
            <a:r>
              <a:rPr lang="en-US" sz="1600" dirty="0"/>
              <a:t>Dense2: </a:t>
            </a:r>
            <a:r>
              <a:rPr lang="en-US" sz="1600" dirty="0" err="1"/>
              <a:t>F_out</a:t>
            </a:r>
            <a:r>
              <a:rPr lang="en-US" sz="1600" dirty="0"/>
              <a:t> = 10</a:t>
            </a:r>
          </a:p>
          <a:p>
            <a:endParaRPr lang="en-US" sz="1600" dirty="0"/>
          </a:p>
          <a:p>
            <a:r>
              <a:rPr lang="en-US" sz="1600" dirty="0"/>
              <a:t>Total Params: 215,658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LR: 0.1 (bigger)</a:t>
            </a:r>
          </a:p>
          <a:p>
            <a:endParaRPr lang="en-US" sz="1600" dirty="0"/>
          </a:p>
          <a:p>
            <a:r>
              <a:rPr lang="en-US" sz="1600" dirty="0"/>
              <a:t>Epochs: 50</a:t>
            </a:r>
          </a:p>
          <a:p>
            <a:r>
              <a:rPr lang="en-US" sz="1600" dirty="0"/>
              <a:t>Batch size: 512</a:t>
            </a:r>
          </a:p>
        </p:txBody>
      </p:sp>
    </p:spTree>
    <p:extLst>
      <p:ext uri="{BB962C8B-B14F-4D97-AF65-F5344CB8AC3E}">
        <p14:creationId xmlns:p14="http://schemas.microsoft.com/office/powerpoint/2010/main" val="2985954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4116-08DF-1CBA-EFB8-AB957FD0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CC287-C23B-320F-D1C6-786547D966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9D9CFA9A-51DD-F1BC-5A37-3D8CE408D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9F411B-6911-0127-971C-C31DEB0F0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80" y="1150142"/>
            <a:ext cx="6306254" cy="1069481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B05F56A0-FFA7-7965-6DB1-08C5E12F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4CEB0-DB03-4C23-E05E-26A3FA2C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66" y="2442146"/>
            <a:ext cx="6278870" cy="2430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1513AC-8C36-29FB-0103-B88136B10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93" y="5470885"/>
            <a:ext cx="4370917" cy="674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A59B32-4089-E8DA-5815-9A338ED3F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0201" y="5401744"/>
            <a:ext cx="4336793" cy="9363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B9D987-EDB2-1D2E-C57D-177F044213AB}"/>
              </a:ext>
            </a:extLst>
          </p:cNvPr>
          <p:cNvSpPr txBox="1"/>
          <p:nvPr/>
        </p:nvSpPr>
        <p:spPr>
          <a:xfrm>
            <a:off x="8595095" y="1150142"/>
            <a:ext cx="2640466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Example </a:t>
            </a:r>
            <a:r>
              <a:rPr lang="en-US" altLang="zh-CN" b="1" dirty="0"/>
              <a:t>2</a:t>
            </a:r>
            <a:endParaRPr lang="en-US" b="1" dirty="0"/>
          </a:p>
          <a:p>
            <a:endParaRPr lang="en-US" b="1" dirty="0"/>
          </a:p>
          <a:p>
            <a:r>
              <a:rPr lang="en-US" sz="1600" dirty="0"/>
              <a:t>Input size: 4096/512/1000</a:t>
            </a:r>
          </a:p>
          <a:p>
            <a:endParaRPr lang="en-US" sz="1600" dirty="0"/>
          </a:p>
          <a:p>
            <a:r>
              <a:rPr lang="en-US" sz="1600" dirty="0"/>
              <a:t>Conv1 : </a:t>
            </a:r>
            <a:r>
              <a:rPr lang="en-US" sz="1600" dirty="0" err="1"/>
              <a:t>C_out</a:t>
            </a:r>
            <a:r>
              <a:rPr lang="en-US" sz="1600" dirty="0"/>
              <a:t> = 64</a:t>
            </a:r>
          </a:p>
          <a:p>
            <a:r>
              <a:rPr lang="en-US" sz="1600" dirty="0"/>
              <a:t>Conv2: </a:t>
            </a:r>
            <a:r>
              <a:rPr lang="en-US" sz="1600" dirty="0" err="1"/>
              <a:t>C_out</a:t>
            </a:r>
            <a:r>
              <a:rPr lang="en-US" sz="1600" dirty="0"/>
              <a:t> = 128</a:t>
            </a:r>
          </a:p>
          <a:p>
            <a:endParaRPr lang="en-US" sz="1600" dirty="0"/>
          </a:p>
          <a:p>
            <a:r>
              <a:rPr lang="en-US" sz="1600" dirty="0"/>
              <a:t>Dense1: </a:t>
            </a:r>
            <a:r>
              <a:rPr lang="en-US" sz="1600" dirty="0" err="1"/>
              <a:t>F_out</a:t>
            </a:r>
            <a:r>
              <a:rPr lang="en-US" sz="1600" dirty="0"/>
              <a:t> = 128</a:t>
            </a:r>
          </a:p>
          <a:p>
            <a:r>
              <a:rPr lang="en-US" sz="1600" dirty="0"/>
              <a:t>Dense2: </a:t>
            </a:r>
            <a:r>
              <a:rPr lang="en-US" sz="1600" dirty="0" err="1"/>
              <a:t>F_out</a:t>
            </a:r>
            <a:r>
              <a:rPr lang="en-US" sz="1600" dirty="0"/>
              <a:t> = 10</a:t>
            </a:r>
          </a:p>
          <a:p>
            <a:endParaRPr lang="en-US" sz="1600" dirty="0"/>
          </a:p>
          <a:p>
            <a:r>
              <a:rPr lang="en-US" sz="1600" dirty="0"/>
              <a:t>Total Params: 485,514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LR: 0.01 (smaller)</a:t>
            </a:r>
          </a:p>
          <a:p>
            <a:endParaRPr lang="en-US" sz="1600" dirty="0"/>
          </a:p>
          <a:p>
            <a:r>
              <a:rPr lang="en-US" sz="1600" dirty="0"/>
              <a:t>Epochs: 50</a:t>
            </a:r>
          </a:p>
          <a:p>
            <a:r>
              <a:rPr lang="en-US" sz="1600" dirty="0"/>
              <a:t>Batch size: 128</a:t>
            </a:r>
          </a:p>
        </p:txBody>
      </p:sp>
    </p:spTree>
    <p:extLst>
      <p:ext uri="{BB962C8B-B14F-4D97-AF65-F5344CB8AC3E}">
        <p14:creationId xmlns:p14="http://schemas.microsoft.com/office/powerpoint/2010/main" val="660027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1F1A-E6B1-7507-21D3-3021773F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6F1A5-9DC0-A11A-7B3B-AA7B2AD47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A9E671EB-F366-FF71-BB40-B8F9E7D314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EC5CCEA-E8F5-BC31-1AA8-2E6A747AA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F29A0-A3B4-BF00-A997-15E87B2CBA1A}"/>
              </a:ext>
            </a:extLst>
          </p:cNvPr>
          <p:cNvSpPr txBox="1"/>
          <p:nvPr/>
        </p:nvSpPr>
        <p:spPr>
          <a:xfrm>
            <a:off x="9287691" y="97456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FE87A9-5A41-B741-3EDE-F6AD55ABD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90845"/>
            <a:ext cx="9311640" cy="48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73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77DA-8BEF-EED4-EA53-70BDA36F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FDA59-E2DC-B563-FBB4-3458919785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F0D86E00-3393-5FF3-B7C8-A3F5C96CD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0DF12A3-55D6-E9E8-0049-217AE1EA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3F516-AA3C-A447-8B40-123E75B7128B}"/>
              </a:ext>
            </a:extLst>
          </p:cNvPr>
          <p:cNvSpPr txBox="1"/>
          <p:nvPr/>
        </p:nvSpPr>
        <p:spPr>
          <a:xfrm>
            <a:off x="9065623" y="1150142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5BF392-F192-6FBD-24C2-8461548B9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03" y="1519474"/>
            <a:ext cx="9960348" cy="52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00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750BE-F9B6-4CBD-E3CA-530EE2BC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A512E-BC29-2A78-4F6E-14C8637B90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A44EE33D-750C-CD33-1671-E19480329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CE4990F-7CB7-E1DC-B1DA-A952463E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850B5-A538-9FDA-2202-458CF7EA53D2}"/>
              </a:ext>
            </a:extLst>
          </p:cNvPr>
          <p:cNvSpPr txBox="1"/>
          <p:nvPr/>
        </p:nvSpPr>
        <p:spPr>
          <a:xfrm>
            <a:off x="9647623" y="1045951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C87B3-B57E-6EEF-C0F3-2A17B7FDE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57" y="1533615"/>
            <a:ext cx="5351643" cy="4362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DA51FD-97A6-1809-CB78-297182AC6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974" y="1533615"/>
            <a:ext cx="4828983" cy="45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69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876E-CF24-3263-030B-2DDE4F6C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603A3-D1A2-8B77-3794-0E670AD151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9F4542A6-56CE-8DA1-2E6D-C2B05516B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15AC8BB-FC86-E2D8-0290-F270DA60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F9417-058B-4A60-9825-AB0A8FB2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71" y="1337176"/>
            <a:ext cx="5693657" cy="4684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0DC76-A1BB-47B1-153B-71E21043D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268" y="1337175"/>
            <a:ext cx="5171200" cy="47762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5906F6-6228-DE61-0D57-67D0B8243E04}"/>
              </a:ext>
            </a:extLst>
          </p:cNvPr>
          <p:cNvSpPr txBox="1"/>
          <p:nvPr/>
        </p:nvSpPr>
        <p:spPr>
          <a:xfrm>
            <a:off x="9688285" y="83178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4252584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0358-E0E6-E8A9-FC63-D49FA236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8B476-FE26-8475-48E6-AF34B8294E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E768485C-261F-10B0-64D1-ABA3125BCC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A30AA5A-53C0-9DFD-F9B5-DA07654A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80" y="360689"/>
            <a:ext cx="10957783" cy="566930"/>
          </a:xfrm>
        </p:spPr>
        <p:txBody>
          <a:bodyPr/>
          <a:lstStyle/>
          <a:p>
            <a:pPr algn="l"/>
            <a:r>
              <a:rPr lang="en-AU" sz="2400" dirty="0"/>
              <a:t>6.Training, Prediction, </a:t>
            </a:r>
            <a:br>
              <a:rPr lang="en-AU" sz="2400" dirty="0"/>
            </a:br>
            <a:r>
              <a:rPr lang="en-AU" sz="2400" dirty="0"/>
              <a:t>Evaluation and Visualization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EF7857-6A9B-EB59-A00B-6E09E7727A59}"/>
              </a:ext>
            </a:extLst>
          </p:cNvPr>
          <p:cNvSpPr txBox="1"/>
          <p:nvPr/>
        </p:nvSpPr>
        <p:spPr>
          <a:xfrm>
            <a:off x="9257924" y="107073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7FD21-8309-ABA4-8F3D-7B4213AEF462}"/>
              </a:ext>
            </a:extLst>
          </p:cNvPr>
          <p:cNvSpPr txBox="1"/>
          <p:nvPr/>
        </p:nvSpPr>
        <p:spPr>
          <a:xfrm>
            <a:off x="1563188" y="107073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940DF6-F23F-9C00-8844-1F5229FD2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15" y="1809399"/>
            <a:ext cx="4785299" cy="4576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794AC6-ADD9-7461-CCC9-E73BBF803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43" y="1809399"/>
            <a:ext cx="4598555" cy="45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64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A534-9254-457B-5E50-922635FC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F2DE8-D044-7C0C-E2AF-4B6E63F519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CCAEF9B8-7ADF-FA36-BBAB-916CB2DEC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542530"/>
            <a:ext cx="566928" cy="38404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01C0A-2BB6-49E7-91A3-DCB9F9F59583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4EEC9-87B3-C3D2-07F8-EB7C5B27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168" y="190501"/>
            <a:ext cx="10122632" cy="652054"/>
          </a:xfrm>
        </p:spPr>
        <p:txBody>
          <a:bodyPr/>
          <a:lstStyle/>
          <a:p>
            <a:r>
              <a:rPr lang="en-US" altLang="zh-CN" dirty="0"/>
              <a:t>Challenges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3B405-2D5D-66E6-E58F-F637FBB26436}"/>
              </a:ext>
            </a:extLst>
          </p:cNvPr>
          <p:cNvSpPr txBox="1"/>
          <p:nvPr/>
        </p:nvSpPr>
        <p:spPr>
          <a:xfrm>
            <a:off x="600647" y="1004020"/>
            <a:ext cx="10621673" cy="544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b="1" dirty="0"/>
              <a:t>Architectural Design Uncertainty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Still uncertain about how deep the network should be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Unsure how to choose kernel size, stride, and output channels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Hard to balance pooling without losing key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Batch size trade-off between stability and memory cost</a:t>
            </a:r>
          </a:p>
          <a:p>
            <a:pPr>
              <a:lnSpc>
                <a:spcPct val="150000"/>
              </a:lnSpc>
              <a:buNone/>
            </a:pPr>
            <a:r>
              <a:rPr lang="en-AU" b="1" dirty="0"/>
              <a:t>Challenge</a:t>
            </a:r>
            <a:r>
              <a:rPr lang="en-AU" dirty="0"/>
              <a:t>:</a:t>
            </a:r>
            <a:r>
              <a:rPr lang="zh-CN" altLang="en-US" dirty="0"/>
              <a:t> </a:t>
            </a:r>
            <a:r>
              <a:rPr lang="en-AU" dirty="0"/>
              <a:t>I’m still exploring how to design the best architecture.</a:t>
            </a:r>
            <a:br>
              <a:rPr lang="en-AU" dirty="0"/>
            </a:br>
            <a:r>
              <a:rPr lang="en-AU" dirty="0"/>
              <a:t>These design choices involve complex trade-offs that I don’t fully understand yet.</a:t>
            </a:r>
          </a:p>
          <a:p>
            <a:pPr>
              <a:lnSpc>
                <a:spcPct val="150000"/>
              </a:lnSpc>
              <a:buNone/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b="1" dirty="0"/>
              <a:t>Limited Hyperparameter Tuning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Slow training limited tuning experiments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Hard to understand how different parameters interact</a:t>
            </a:r>
          </a:p>
          <a:p>
            <a:pPr>
              <a:lnSpc>
                <a:spcPct val="150000"/>
              </a:lnSpc>
            </a:pPr>
            <a:r>
              <a:rPr lang="en-AU" b="1" dirty="0"/>
              <a:t>Result</a:t>
            </a:r>
            <a:r>
              <a:rPr lang="en-AU" dirty="0"/>
              <a:t>:</a:t>
            </a:r>
            <a:r>
              <a:rPr lang="zh-CN" altLang="en-US" dirty="0"/>
              <a:t> </a:t>
            </a:r>
            <a:r>
              <a:rPr lang="en-AU" dirty="0"/>
              <a:t>I couldn’t perform full tuning, so some hyperparameters remain unexplored.</a:t>
            </a:r>
            <a:br>
              <a:rPr lang="en-AU" dirty="0"/>
            </a:br>
            <a:r>
              <a:rPr lang="en-AU" dirty="0"/>
              <a:t>The model likely hasn’t reached its best potential yet.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A6394-106F-EE25-EBC0-AA3E88FC89AD}"/>
              </a:ext>
            </a:extLst>
          </p:cNvPr>
          <p:cNvSpPr txBox="1"/>
          <p:nvPr/>
        </p:nvSpPr>
        <p:spPr>
          <a:xfrm>
            <a:off x="-2057400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78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br>
              <a:rPr lang="en-US" altLang="zh-CN" dirty="0"/>
            </a:br>
            <a:br>
              <a:rPr lang="en-US" dirty="0"/>
            </a:br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1AF693-3675-52A5-9E8E-C071048A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 long</a:t>
            </a:r>
            <a:r>
              <a:rPr lang="zh-CN" altLang="en-US" dirty="0"/>
              <a:t> </a:t>
            </a:r>
            <a:r>
              <a:rPr lang="en-US" altLang="zh-CN" dirty="0"/>
              <a:t>(Elliott)</a:t>
            </a:r>
            <a:r>
              <a:rPr lang="zh-CN" altLang="en-US" dirty="0"/>
              <a:t> </a:t>
            </a:r>
            <a:r>
              <a:rPr lang="en-US" altLang="zh-CN" dirty="0"/>
              <a:t>Li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5086-0CC9-27F6-6E0B-D4F2AD6181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UTS KUANLONG LI / 20 OCT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A5661-D5F1-FE42-FC42-CC2D27E7A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rgbClr val="36393B"/>
      </a:dk1>
      <a:lt1>
        <a:srgbClr val="FFFFFF"/>
      </a:lt1>
      <a:dk2>
        <a:srgbClr val="3AEFCC"/>
      </a:dk2>
      <a:lt2>
        <a:srgbClr val="E7E4E6"/>
      </a:lt2>
      <a:accent1>
        <a:srgbClr val="4A5EE6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E62F0"/>
      </a:hlink>
      <a:folHlink>
        <a:srgbClr val="FC4C00"/>
      </a:folHlink>
    </a:clrScheme>
    <a:fontScheme name="Custom 9">
      <a:majorFont>
        <a:latin typeface="Arial Black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357351_Win32.potx" id="{80F03410-3B38-45A0-935B-4BE6FE1E6CFD}" vid="{B74EBAAB-C1F2-42E7-A669-BC3A21FA62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</TotalTime>
  <Words>2409</Words>
  <Application>Microsoft Macintosh PowerPoint</Application>
  <PresentationFormat>Widescreen</PresentationFormat>
  <Paragraphs>590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Google Sans Text</vt:lpstr>
      <vt:lpstr>Arial</vt:lpstr>
      <vt:lpstr>Arial Black</vt:lpstr>
      <vt:lpstr>Avenir Next LT Pro</vt:lpstr>
      <vt:lpstr>Calibri</vt:lpstr>
      <vt:lpstr>Cambria Math</vt:lpstr>
      <vt:lpstr>Segoe UI Light</vt:lpstr>
      <vt:lpstr>Wingdings</vt:lpstr>
      <vt:lpstr>Office Theme</vt:lpstr>
      <vt:lpstr>MACHINE LANGUAGE  Image Classification task  BASIC CNN(Convolutional Neural Network)</vt:lpstr>
      <vt:lpstr>AGENDA</vt:lpstr>
      <vt:lpstr>1. Project Overview</vt:lpstr>
      <vt:lpstr>1.Project Overview</vt:lpstr>
      <vt:lpstr>2. Data Preparation</vt:lpstr>
      <vt:lpstr>Simple CNN Structure Design</vt:lpstr>
      <vt:lpstr>3. CNN Container and Components</vt:lpstr>
      <vt:lpstr>3.1 CNN Components</vt:lpstr>
      <vt:lpstr>3.2 CNN Container</vt:lpstr>
      <vt:lpstr>3.3 Convolutional COMPUTATION</vt:lpstr>
      <vt:lpstr>4. CNN Criterion and OPTIMIZER</vt:lpstr>
      <vt:lpstr>4.1 Cross-Entropy Loss(with Softmax)</vt:lpstr>
      <vt:lpstr>4.2 SGD(Stochastic Gradient Descent)</vt:lpstr>
      <vt:lpstr>5. Training Framework</vt:lpstr>
      <vt:lpstr>PowerPoint Presentation</vt:lpstr>
      <vt:lpstr>PowerPoint Presentation</vt:lpstr>
      <vt:lpstr>PowerPoint Presentation</vt:lpstr>
      <vt:lpstr>6.Training, Prediction,  Evaluation and Visualization</vt:lpstr>
      <vt:lpstr>6.Training, Prediction,  Evaluation and Visualization</vt:lpstr>
      <vt:lpstr>6.Training, Prediction,  Evaluation and Visualization</vt:lpstr>
      <vt:lpstr>6.Training, Prediction,  Evaluation and Visualization</vt:lpstr>
      <vt:lpstr>6.Training, Prediction,  Evaluation and Visualization</vt:lpstr>
      <vt:lpstr>6.Training, Prediction,  Evaluation and Visualization</vt:lpstr>
      <vt:lpstr>6.Training, Prediction,  Evaluation and Visualization</vt:lpstr>
      <vt:lpstr>6.Training, Prediction,  Evaluation and Visualization</vt:lpstr>
      <vt:lpstr>Challenges</vt:lpstr>
      <vt:lpstr>Q&amp;A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Elliott Li</dc:creator>
  <cp:lastModifiedBy>Elliott Li</cp:lastModifiedBy>
  <cp:revision>273</cp:revision>
  <dcterms:created xsi:type="dcterms:W3CDTF">2025-10-19T22:10:56Z</dcterms:created>
  <dcterms:modified xsi:type="dcterms:W3CDTF">2025-10-21T23:55:58Z</dcterms:modified>
</cp:coreProperties>
</file>